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ptos Bold" charset="1" panose="020B0004020202020204"/>
      <p:regular r:id="rId19"/>
    </p:embeddedFont>
    <p:embeddedFont>
      <p:font typeface="Aptos" charset="1" panose="020B00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Presentar brevemente que se evaluarán tres alternativas realizables dentro del semestre. La idea es comparar factibilidad, valor de negocio e innovación antes de seleccionar una para desarrollar como Capstone.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Explicar que la metodología sería la misma en los tres proyectos: Scrum, sprints cortos y MVP. Esto permite mostrar avance semanal y controlar el alcance para llegar con un producto funcional.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primera propuesta es la más segura de ejecutar. El foco no es construir un ERP gigante, sino resolver bien inventario, clientes y cotización. El valor está en reducir trabajo manual y mantener todo trazable.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Mostrar el flujo: el usuario trabaja en la web, la API aplica reglas de negocio y guarda los datos. El PDF se genera desde la cotización. El modelo inicial es simple y suficiente para el MVP.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Esta es la alternativa con mayor innovación y potencial comercial. La IA no toma decisiones por sí sola: ayuda al ejecutivo, resume, prioriza y revisa. Las reglas determinísticas cubren validaciones críticas y la IA aporta contexto.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arquitectura separa el modelo de IA del motor de reglas. Esto permite cambiar de proveedor de IA sin afectar todo el sistema y mantener validaciones críticas controladas. El modelo de datos guarda interacciones y auditoría para explicar los resultados.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tercera propuesta cumple el requisito de una aplicación de escritorio y tiene un caso de uso claro. Su ventaja es que puede funcionar sin internet y almacenar todo localmente, ideal para talleres o servicios técnicos pequeños.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Aquí se muestra una arquitectura realmente de escritorio. Electron o Tauri empaqueta la interfaz; SQLite guarda la información local y el sistema puede exportar PDFs y respaldos. En una segunda etapa podría agregarse sincronización cloud.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Cerrar comparando objetivamente. La IA inmobiliaria es la propuesta más diferenciadora; inventario y cotización es la más segura para demostrar un producto completo; la app de escritorio es factible y distinta, pero con menor innovación.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Presentar brevemente que se evaluarán tres alternativas realizables dentro del semestre. La idea es comparar factibilidad, valor de negocio e innovación antes de seleccionar una para desarrollar como Capstone.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63575" y="100203"/>
            <a:ext cx="4888230" cy="4888230"/>
            <a:chOff x="0" y="0"/>
            <a:chExt cx="6517640" cy="6517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17640" cy="6517640"/>
            </a:xfrm>
            <a:custGeom>
              <a:avLst/>
              <a:gdLst/>
              <a:ahLst/>
              <a:cxnLst/>
              <a:rect r="r" b="b" t="t" l="l"/>
              <a:pathLst>
                <a:path h="6517640" w="6517640">
                  <a:moveTo>
                    <a:pt x="0" y="3258820"/>
                  </a:moveTo>
                  <a:cubicBezTo>
                    <a:pt x="0" y="1458976"/>
                    <a:pt x="1458976" y="0"/>
                    <a:pt x="3258820" y="0"/>
                  </a:cubicBezTo>
                  <a:cubicBezTo>
                    <a:pt x="5058664" y="0"/>
                    <a:pt x="6517640" y="1458976"/>
                    <a:pt x="6517640" y="3258820"/>
                  </a:cubicBezTo>
                  <a:cubicBezTo>
                    <a:pt x="6517640" y="5058664"/>
                    <a:pt x="5058664" y="6517640"/>
                    <a:pt x="3258820" y="6517640"/>
                  </a:cubicBezTo>
                  <a:cubicBezTo>
                    <a:pt x="1458976" y="6517640"/>
                    <a:pt x="0" y="5058664"/>
                    <a:pt x="0" y="3258820"/>
                  </a:cubicBezTo>
                  <a:close/>
                </a:path>
              </a:pathLst>
            </a:custGeom>
            <a:solidFill>
              <a:srgbClr val="17336B">
                <a:alpha val="6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98015" y="6601587"/>
            <a:ext cx="3585210" cy="3585210"/>
            <a:chOff x="0" y="0"/>
            <a:chExt cx="4780280" cy="4780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80280" cy="4780280"/>
            </a:xfrm>
            <a:custGeom>
              <a:avLst/>
              <a:gdLst/>
              <a:ahLst/>
              <a:cxnLst/>
              <a:rect r="r" b="b" t="t" l="l"/>
              <a:pathLst>
                <a:path h="4780280" w="4780280">
                  <a:moveTo>
                    <a:pt x="0" y="2390140"/>
                  </a:moveTo>
                  <a:cubicBezTo>
                    <a:pt x="0" y="1070102"/>
                    <a:pt x="1070102" y="0"/>
                    <a:pt x="2390140" y="0"/>
                  </a:cubicBezTo>
                  <a:cubicBezTo>
                    <a:pt x="3710178" y="0"/>
                    <a:pt x="4780280" y="1070102"/>
                    <a:pt x="4780280" y="2390140"/>
                  </a:cubicBezTo>
                  <a:cubicBezTo>
                    <a:pt x="4780280" y="3710178"/>
                    <a:pt x="3710178" y="4780280"/>
                    <a:pt x="2390140" y="4780280"/>
                  </a:cubicBezTo>
                  <a:cubicBezTo>
                    <a:pt x="1070102" y="4780280"/>
                    <a:pt x="0" y="3710178"/>
                    <a:pt x="0" y="2390140"/>
                  </a:cubicBezTo>
                  <a:close/>
                </a:path>
              </a:pathLst>
            </a:custGeom>
            <a:solidFill>
              <a:srgbClr val="0E7490">
                <a:alpha val="51765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051894"/>
            <a:ext cx="3140964" cy="384048"/>
            <a:chOff x="0" y="0"/>
            <a:chExt cx="4187952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87952" cy="512064"/>
            </a:xfrm>
            <a:custGeom>
              <a:avLst/>
              <a:gdLst/>
              <a:ahLst/>
              <a:cxnLst/>
              <a:rect r="r" b="b" t="t" l="l"/>
              <a:pathLst>
                <a:path h="512064" w="4187952">
                  <a:moveTo>
                    <a:pt x="0" y="0"/>
                  </a:moveTo>
                  <a:lnTo>
                    <a:pt x="4187952" y="0"/>
                  </a:lnTo>
                  <a:lnTo>
                    <a:pt x="418795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12663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18795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95">
                  <a:solidFill>
                    <a:srgbClr val="93C5F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CAPSTONE - PTY4614-004D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1618488"/>
            <a:ext cx="9984247" cy="2359152"/>
            <a:chOff x="0" y="0"/>
            <a:chExt cx="13312330" cy="31455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12329" cy="3145536"/>
            </a:xfrm>
            <a:custGeom>
              <a:avLst/>
              <a:gdLst/>
              <a:ahLst/>
              <a:cxnLst/>
              <a:rect r="r" b="b" t="t" l="l"/>
              <a:pathLst>
                <a:path h="3145536" w="13312329">
                  <a:moveTo>
                    <a:pt x="0" y="0"/>
                  </a:moveTo>
                  <a:lnTo>
                    <a:pt x="13312329" y="0"/>
                  </a:lnTo>
                  <a:lnTo>
                    <a:pt x="13312329" y="3145536"/>
                  </a:lnTo>
                  <a:lnTo>
                    <a:pt x="0" y="3145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62" r="-7153" b="-3836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3312330" cy="3155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00"/>
                </a:lnSpc>
              </a:pPr>
              <a:r>
                <a:rPr lang="en-US" sz="5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 alternativas de</a:t>
              </a:r>
            </a:p>
            <a:p>
              <a:pPr algn="l">
                <a:lnSpc>
                  <a:spcPts val="6300"/>
                </a:lnSpc>
              </a:pPr>
              <a:r>
                <a:rPr lang="en-US" sz="5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proyecto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24712" y="4251960"/>
            <a:ext cx="9875520" cy="1014984"/>
            <a:chOff x="0" y="0"/>
            <a:chExt cx="13167360" cy="13533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67361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584" r="0" b="-13958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167360" cy="1353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BD5E1"/>
                  </a:solidFill>
                  <a:latin typeface="Aptos"/>
                  <a:ea typeface="Aptos"/>
                  <a:cs typeface="Aptos"/>
                  <a:sym typeface="Aptos"/>
                </a:rPr>
                <a:t>Propuestas enfocadas en gestión de PYMEs, inteligencia artificial y aplicaciones de escritorio.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5187" y="5915787"/>
            <a:ext cx="3242310" cy="485394"/>
            <a:chOff x="0" y="0"/>
            <a:chExt cx="4323080" cy="6471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23080" cy="647192"/>
            </a:xfrm>
            <a:custGeom>
              <a:avLst/>
              <a:gdLst/>
              <a:ahLst/>
              <a:cxnLst/>
              <a:rect r="r" b="b" t="t" l="l"/>
              <a:pathLst>
                <a:path h="647192" w="4323080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170807" y="0"/>
                  </a:lnTo>
                  <a:cubicBezTo>
                    <a:pt x="4254881" y="0"/>
                    <a:pt x="4323080" y="68199"/>
                    <a:pt x="4323080" y="152273"/>
                  </a:cubicBezTo>
                  <a:lnTo>
                    <a:pt x="4323080" y="494919"/>
                  </a:lnTo>
                  <a:cubicBezTo>
                    <a:pt x="4323080" y="578993"/>
                    <a:pt x="4254881" y="647192"/>
                    <a:pt x="417080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1A1A1A"/>
            </a:solidFill>
            <a:ln w="1905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" y="6035040"/>
            <a:ext cx="3003804" cy="246888"/>
            <a:chOff x="0" y="0"/>
            <a:chExt cx="4005072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05072" cy="329184"/>
            </a:xfrm>
            <a:custGeom>
              <a:avLst/>
              <a:gdLst/>
              <a:ahLst/>
              <a:cxnLst/>
              <a:rect r="r" b="b" t="t" l="l"/>
              <a:pathLst>
                <a:path h="329184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005072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 · Web + inventario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26483" y="5915787"/>
            <a:ext cx="3242310" cy="485394"/>
            <a:chOff x="0" y="0"/>
            <a:chExt cx="4323080" cy="6471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23080" cy="647192"/>
            </a:xfrm>
            <a:custGeom>
              <a:avLst/>
              <a:gdLst/>
              <a:ahLst/>
              <a:cxnLst/>
              <a:rect r="r" b="b" t="t" l="l"/>
              <a:pathLst>
                <a:path h="647192" w="4323080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170807" y="0"/>
                  </a:lnTo>
                  <a:cubicBezTo>
                    <a:pt x="4254881" y="0"/>
                    <a:pt x="4323080" y="68199"/>
                    <a:pt x="4323080" y="152273"/>
                  </a:cubicBezTo>
                  <a:lnTo>
                    <a:pt x="4323080" y="494919"/>
                  </a:lnTo>
                  <a:cubicBezTo>
                    <a:pt x="4323080" y="578993"/>
                    <a:pt x="4254881" y="647192"/>
                    <a:pt x="417080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7181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745736" y="6035040"/>
            <a:ext cx="3003804" cy="246888"/>
            <a:chOff x="0" y="0"/>
            <a:chExt cx="4005072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05072" cy="329184"/>
            </a:xfrm>
            <a:custGeom>
              <a:avLst/>
              <a:gdLst/>
              <a:ahLst/>
              <a:cxnLst/>
              <a:rect r="r" b="b" t="t" l="l"/>
              <a:pathLst>
                <a:path h="329184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17181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005072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 · IA inmobiliaria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137779" y="5915787"/>
            <a:ext cx="3242310" cy="485394"/>
            <a:chOff x="0" y="0"/>
            <a:chExt cx="4323080" cy="6471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23080" cy="647192"/>
            </a:xfrm>
            <a:custGeom>
              <a:avLst/>
              <a:gdLst/>
              <a:ahLst/>
              <a:cxnLst/>
              <a:rect r="r" b="b" t="t" l="l"/>
              <a:pathLst>
                <a:path h="647192" w="4323080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170807" y="0"/>
                  </a:lnTo>
                  <a:cubicBezTo>
                    <a:pt x="4254881" y="0"/>
                    <a:pt x="4323080" y="68199"/>
                    <a:pt x="4323080" y="152273"/>
                  </a:cubicBezTo>
                  <a:lnTo>
                    <a:pt x="4323080" y="494919"/>
                  </a:lnTo>
                  <a:cubicBezTo>
                    <a:pt x="4323080" y="578993"/>
                    <a:pt x="4254881" y="647192"/>
                    <a:pt x="417080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17336B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257032" y="6035040"/>
            <a:ext cx="3003804" cy="246888"/>
            <a:chOff x="0" y="0"/>
            <a:chExt cx="4005072" cy="3291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05072" cy="329184"/>
            </a:xfrm>
            <a:custGeom>
              <a:avLst/>
              <a:gdLst/>
              <a:ahLst/>
              <a:cxnLst/>
              <a:rect r="r" b="b" t="t" l="l"/>
              <a:pathLst>
                <a:path h="329184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005072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 · App escritorio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24712" y="9052560"/>
            <a:ext cx="5760720" cy="411480"/>
            <a:chOff x="0" y="0"/>
            <a:chExt cx="768096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0960" cy="548640"/>
            </a:xfrm>
            <a:custGeom>
              <a:avLst/>
              <a:gdLst/>
              <a:ahLst/>
              <a:cxnLst/>
              <a:rect r="r" b="b" t="t" l="l"/>
              <a:pathLst>
                <a:path h="548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76809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Duoc UC, Ingeniería en Informática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734169" y="4123182"/>
            <a:ext cx="3585210" cy="3585210"/>
            <a:chOff x="0" y="0"/>
            <a:chExt cx="4780280" cy="4780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80280" cy="4780280"/>
            </a:xfrm>
            <a:custGeom>
              <a:avLst/>
              <a:gdLst/>
              <a:ahLst/>
              <a:cxnLst/>
              <a:rect r="r" b="b" t="t" l="l"/>
              <a:pathLst>
                <a:path h="4780280" w="4780280">
                  <a:moveTo>
                    <a:pt x="0" y="2390140"/>
                  </a:moveTo>
                  <a:cubicBezTo>
                    <a:pt x="0" y="1070102"/>
                    <a:pt x="1070102" y="0"/>
                    <a:pt x="2390140" y="0"/>
                  </a:cubicBezTo>
                  <a:cubicBezTo>
                    <a:pt x="3710178" y="0"/>
                    <a:pt x="4780280" y="1070102"/>
                    <a:pt x="4780280" y="2390140"/>
                  </a:cubicBezTo>
                  <a:cubicBezTo>
                    <a:pt x="4780280" y="3710178"/>
                    <a:pt x="3710178" y="4780280"/>
                    <a:pt x="2390140" y="4780280"/>
                  </a:cubicBezTo>
                  <a:cubicBezTo>
                    <a:pt x="1070102" y="4780280"/>
                    <a:pt x="0" y="3710178"/>
                    <a:pt x="0" y="2390140"/>
                  </a:cubicBezTo>
                  <a:close/>
                </a:path>
              </a:pathLst>
            </a:custGeom>
            <a:solidFill>
              <a:srgbClr val="64748B">
                <a:alpha val="51765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3642"/>
            <a:chOff x="0" y="0"/>
            <a:chExt cx="24408790" cy="24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710928"/>
            <a:ext cx="7543800" cy="246888"/>
            <a:chOff x="0" y="0"/>
            <a:chExt cx="100584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329184"/>
            </a:xfrm>
            <a:custGeom>
              <a:avLst/>
              <a:gdLst/>
              <a:ahLst/>
              <a:cxnLst/>
              <a:rect r="r" b="b" t="t" l="l"/>
              <a:pathLst>
                <a:path h="32918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376" r="0" b="-54537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0584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CAPSTONE · PTY4614-004D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1069848"/>
            <a:ext cx="16322040" cy="850392"/>
            <a:chOff x="0" y="0"/>
            <a:chExt cx="21762720" cy="1133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62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987" r="0" b="-3239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76272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Criterios comunes para las 3 propuestas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8398" y="1920240"/>
            <a:ext cx="16184880" cy="576072"/>
            <a:chOff x="0" y="0"/>
            <a:chExt cx="21579840" cy="7680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79839" cy="768096"/>
            </a:xfrm>
            <a:custGeom>
              <a:avLst/>
              <a:gdLst/>
              <a:ahLst/>
              <a:cxnLst/>
              <a:rect r="r" b="b" t="t" l="l"/>
              <a:pathLst>
                <a:path h="76809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436" r="0" b="-4974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5798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Todas las alternativas se plantean como un MVP desarrollable durante el semestre.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2015" y="2733675"/>
            <a:ext cx="5436870" cy="2830830"/>
            <a:chOff x="0" y="0"/>
            <a:chExt cx="7249160" cy="3774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49160" cy="3774440"/>
            </a:xfrm>
            <a:custGeom>
              <a:avLst/>
              <a:gdLst/>
              <a:ahLst/>
              <a:cxnLst/>
              <a:rect r="r" b="b" t="t" l="l"/>
              <a:pathLst>
                <a:path h="3774440" w="72491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7101840" y="0"/>
                  </a:lnTo>
                  <a:cubicBezTo>
                    <a:pt x="7183120" y="0"/>
                    <a:pt x="7249160" y="65913"/>
                    <a:pt x="7249160" y="147320"/>
                  </a:cubicBezTo>
                  <a:lnTo>
                    <a:pt x="7249160" y="3627120"/>
                  </a:lnTo>
                  <a:cubicBezTo>
                    <a:pt x="7249160" y="3708400"/>
                    <a:pt x="7183247" y="3774440"/>
                    <a:pt x="7101840" y="3774440"/>
                  </a:cubicBezTo>
                  <a:lnTo>
                    <a:pt x="147320" y="3774440"/>
                  </a:lnTo>
                  <a:cubicBezTo>
                    <a:pt x="66040" y="3774440"/>
                    <a:pt x="0" y="3708527"/>
                    <a:pt x="0" y="36271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83767" y="3035427"/>
            <a:ext cx="677418" cy="677418"/>
            <a:chOff x="0" y="0"/>
            <a:chExt cx="903224" cy="9032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93292" y="3278124"/>
            <a:ext cx="658368" cy="233172"/>
            <a:chOff x="0" y="0"/>
            <a:chExt cx="877824" cy="310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" cy="310896"/>
            </a:xfrm>
            <a:custGeom>
              <a:avLst/>
              <a:gdLst/>
              <a:ahLst/>
              <a:cxnLst/>
              <a:rect r="r" b="b" t="t" l="l"/>
              <a:pathLst>
                <a:path h="310896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6" r="0" b="-501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77824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17014" y="3161538"/>
            <a:ext cx="3977640" cy="466344"/>
            <a:chOff x="0" y="0"/>
            <a:chExt cx="5303520" cy="621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03520" cy="621792"/>
            </a:xfrm>
            <a:custGeom>
              <a:avLst/>
              <a:gdLst/>
              <a:ahLst/>
              <a:cxnLst/>
              <a:rect r="r" b="b" t="t" l="l"/>
              <a:pathLst>
                <a:path h="621792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95" r="0" b="-1161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53035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Valor de negocio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52471" y="3951888"/>
            <a:ext cx="4704083" cy="150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Resolver un problema real y frecuente.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Entregar mejoras medibles en tiempo, control o trazabilidad.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Tener posibilidad de escalar a una solución comercial.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23279" y="2733675"/>
            <a:ext cx="5436870" cy="2830830"/>
            <a:chOff x="0" y="0"/>
            <a:chExt cx="7249160" cy="3774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49160" cy="3774440"/>
            </a:xfrm>
            <a:custGeom>
              <a:avLst/>
              <a:gdLst/>
              <a:ahLst/>
              <a:cxnLst/>
              <a:rect r="r" b="b" t="t" l="l"/>
              <a:pathLst>
                <a:path h="3774440" w="72491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7101840" y="0"/>
                  </a:lnTo>
                  <a:cubicBezTo>
                    <a:pt x="7183120" y="0"/>
                    <a:pt x="7249160" y="65913"/>
                    <a:pt x="7249160" y="147320"/>
                  </a:cubicBezTo>
                  <a:lnTo>
                    <a:pt x="7249160" y="3627120"/>
                  </a:lnTo>
                  <a:cubicBezTo>
                    <a:pt x="7249160" y="3708400"/>
                    <a:pt x="7183247" y="3774440"/>
                    <a:pt x="7101840" y="3774440"/>
                  </a:cubicBezTo>
                  <a:lnTo>
                    <a:pt x="147320" y="3774440"/>
                  </a:lnTo>
                  <a:cubicBezTo>
                    <a:pt x="66040" y="3774440"/>
                    <a:pt x="0" y="3708527"/>
                    <a:pt x="0" y="36271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725031" y="3035427"/>
            <a:ext cx="677418" cy="677418"/>
            <a:chOff x="0" y="0"/>
            <a:chExt cx="903224" cy="9032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734556" y="3278124"/>
            <a:ext cx="658368" cy="233172"/>
            <a:chOff x="0" y="0"/>
            <a:chExt cx="877824" cy="3108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77824" cy="310896"/>
            </a:xfrm>
            <a:custGeom>
              <a:avLst/>
              <a:gdLst/>
              <a:ahLst/>
              <a:cxnLst/>
              <a:rect r="r" b="b" t="t" l="l"/>
              <a:pathLst>
                <a:path h="310896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6" r="0" b="-501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77824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554849" y="3140964"/>
            <a:ext cx="3977640" cy="466344"/>
            <a:chOff x="0" y="0"/>
            <a:chExt cx="5303520" cy="6217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03520" cy="621792"/>
            </a:xfrm>
            <a:custGeom>
              <a:avLst/>
              <a:gdLst/>
              <a:ahLst/>
              <a:cxnLst/>
              <a:rect r="r" b="b" t="t" l="l"/>
              <a:pathLst>
                <a:path h="621792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95" r="0" b="-11619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3035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Factibilidad técnica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789672" y="3951888"/>
            <a:ext cx="4704083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Tecnologías conocidas y alcance acotado.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Arquitectura modular para crecer sin rehacer el sistema.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Pruebas y criterios de aceptación desde el inicio.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964543" y="2733675"/>
            <a:ext cx="5436870" cy="2830830"/>
            <a:chOff x="0" y="0"/>
            <a:chExt cx="7249160" cy="3774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49160" cy="3774440"/>
            </a:xfrm>
            <a:custGeom>
              <a:avLst/>
              <a:gdLst/>
              <a:ahLst/>
              <a:cxnLst/>
              <a:rect r="r" b="b" t="t" l="l"/>
              <a:pathLst>
                <a:path h="3774440" w="72491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7101840" y="0"/>
                  </a:lnTo>
                  <a:cubicBezTo>
                    <a:pt x="7183120" y="0"/>
                    <a:pt x="7249160" y="65913"/>
                    <a:pt x="7249160" y="147320"/>
                  </a:cubicBezTo>
                  <a:lnTo>
                    <a:pt x="7249160" y="3627120"/>
                  </a:lnTo>
                  <a:cubicBezTo>
                    <a:pt x="7249160" y="3708400"/>
                    <a:pt x="7183247" y="3774440"/>
                    <a:pt x="7101840" y="3774440"/>
                  </a:cubicBezTo>
                  <a:lnTo>
                    <a:pt x="147320" y="3774440"/>
                  </a:lnTo>
                  <a:cubicBezTo>
                    <a:pt x="66040" y="3774440"/>
                    <a:pt x="0" y="3708527"/>
                    <a:pt x="0" y="36271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266295" y="3035427"/>
            <a:ext cx="677418" cy="677418"/>
            <a:chOff x="0" y="0"/>
            <a:chExt cx="903224" cy="9032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059669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285345" y="3278124"/>
            <a:ext cx="658368" cy="233172"/>
            <a:chOff x="0" y="0"/>
            <a:chExt cx="877824" cy="3108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7824" cy="310896"/>
            </a:xfrm>
            <a:custGeom>
              <a:avLst/>
              <a:gdLst/>
              <a:ahLst/>
              <a:cxnLst/>
              <a:rect r="r" b="b" t="t" l="l"/>
              <a:pathLst>
                <a:path h="310896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6" r="0" b="-501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877824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105638" y="3140964"/>
            <a:ext cx="3977640" cy="466344"/>
            <a:chOff x="0" y="0"/>
            <a:chExt cx="5303520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03520" cy="621792"/>
            </a:xfrm>
            <a:custGeom>
              <a:avLst/>
              <a:gdLst/>
              <a:ahLst/>
              <a:cxnLst/>
              <a:rect r="r" b="b" t="t" l="l"/>
              <a:pathLst>
                <a:path h="621792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95" r="0" b="-11619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3035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Metodología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330936" y="3951888"/>
            <a:ext cx="470408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Scrum con sprints de 2 semanas.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Backlog priorizado, revisión y retrospectiva.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MVP primero; mejoras y extras sólo si queda capacidad de desarrollo.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2363794" y="6298806"/>
            <a:ext cx="13555840" cy="1872768"/>
            <a:chOff x="0" y="0"/>
            <a:chExt cx="22025864" cy="30429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025863" cy="3042920"/>
            </a:xfrm>
            <a:custGeom>
              <a:avLst/>
              <a:gdLst/>
              <a:ahLst/>
              <a:cxnLst/>
              <a:rect r="r" b="b" t="t" l="l"/>
              <a:pathLst>
                <a:path h="3042920" w="22025863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21878289" y="0"/>
                  </a:lnTo>
                  <a:cubicBezTo>
                    <a:pt x="21959824" y="0"/>
                    <a:pt x="22025863" y="66040"/>
                    <a:pt x="22025863" y="147574"/>
                  </a:cubicBezTo>
                  <a:lnTo>
                    <a:pt x="22025863" y="2895346"/>
                  </a:lnTo>
                  <a:cubicBezTo>
                    <a:pt x="22025863" y="2976880"/>
                    <a:pt x="21959824" y="3042920"/>
                    <a:pt x="21878289" y="3042920"/>
                  </a:cubicBezTo>
                  <a:lnTo>
                    <a:pt x="147574" y="3042920"/>
                  </a:lnTo>
                  <a:cubicBezTo>
                    <a:pt x="66040" y="3042920"/>
                    <a:pt x="0" y="2976880"/>
                    <a:pt x="0" y="2895346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2832354" y="6768846"/>
            <a:ext cx="12618720" cy="932688"/>
            <a:chOff x="0" y="0"/>
            <a:chExt cx="16824960" cy="12435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824961" cy="1243584"/>
            </a:xfrm>
            <a:custGeom>
              <a:avLst/>
              <a:gdLst/>
              <a:ahLst/>
              <a:cxnLst/>
              <a:rect r="r" b="b" t="t" l="l"/>
              <a:pathLst>
                <a:path h="1243584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621" r="0" b="-21362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6824960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Cada propuesta prioriza funciones esenciales, un modelo de datos inicial y una arquitectura de alto nivel. Integraciones complejas, contabilidad completa o automatizaciones críticas quedan fuera del MVP.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3642"/>
            <a:chOff x="0" y="0"/>
            <a:chExt cx="24408790" cy="24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710928"/>
            <a:ext cx="7543800" cy="246888"/>
            <a:chOff x="0" y="0"/>
            <a:chExt cx="100584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329184"/>
            </a:xfrm>
            <a:custGeom>
              <a:avLst/>
              <a:gdLst/>
              <a:ahLst/>
              <a:cxnLst/>
              <a:rect r="r" b="b" t="t" l="l"/>
              <a:pathLst>
                <a:path h="32918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376" r="0" b="-54537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0584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CAPSTONE · PTY4614-004D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658368"/>
            <a:ext cx="4526280" cy="315468"/>
            <a:chOff x="0" y="0"/>
            <a:chExt cx="6035040" cy="4206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35040" cy="420624"/>
            </a:xfrm>
            <a:custGeom>
              <a:avLst/>
              <a:gdLst/>
              <a:ahLst/>
              <a:cxnLst/>
              <a:rect r="r" b="b" t="t" l="l"/>
              <a:pathLst>
                <a:path h="42062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567" r="0" b="-229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03504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64">
                  <a:solidFill>
                    <a:srgbClr val="1D4E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Primera alternativa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1069848"/>
            <a:ext cx="16322040" cy="850392"/>
            <a:chOff x="0" y="0"/>
            <a:chExt cx="2176272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987" r="0" b="-323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176272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Sistema web de inventario + cotizador para PYMEs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1540" y="1961388"/>
            <a:ext cx="16184880" cy="576072"/>
            <a:chOff x="0" y="0"/>
            <a:chExt cx="2157984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9839" cy="768096"/>
            </a:xfrm>
            <a:custGeom>
              <a:avLst/>
              <a:gdLst/>
              <a:ahLst/>
              <a:cxnLst/>
              <a:rect r="r" b="b" t="t" l="l"/>
              <a:pathLst>
                <a:path h="76809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436" r="0" b="-49743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5798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Inspirado en necesidades reales de empresas pequeñas: stock, clientes y cotizaciones en un solo lugar.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2015" y="2733675"/>
            <a:ext cx="5231130" cy="5121402"/>
            <a:chOff x="0" y="0"/>
            <a:chExt cx="6974840" cy="68285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74840" cy="6828536"/>
            </a:xfrm>
            <a:custGeom>
              <a:avLst/>
              <a:gdLst/>
              <a:ahLst/>
              <a:cxnLst/>
              <a:rect r="r" b="b" t="t" l="l"/>
              <a:pathLst>
                <a:path h="6828536" w="69748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7901" y="0"/>
                  </a:lnTo>
                  <a:cubicBezTo>
                    <a:pt x="6909054" y="0"/>
                    <a:pt x="6974840" y="65786"/>
                    <a:pt x="6974840" y="146939"/>
                  </a:cubicBezTo>
                  <a:lnTo>
                    <a:pt x="6974840" y="6681597"/>
                  </a:lnTo>
                  <a:cubicBezTo>
                    <a:pt x="6974840" y="6762750"/>
                    <a:pt x="6909054" y="6828536"/>
                    <a:pt x="6827901" y="6828536"/>
                  </a:cubicBezTo>
                  <a:lnTo>
                    <a:pt x="146939" y="6828536"/>
                  </a:lnTo>
                  <a:cubicBezTo>
                    <a:pt x="65786" y="6828536"/>
                    <a:pt x="0" y="6762750"/>
                    <a:pt x="0" y="66815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83767" y="3035427"/>
            <a:ext cx="677418" cy="677418"/>
            <a:chOff x="0" y="0"/>
            <a:chExt cx="903224" cy="9032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93292" y="3278124"/>
            <a:ext cx="658368" cy="233172"/>
            <a:chOff x="0" y="0"/>
            <a:chExt cx="877824" cy="3108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" cy="310896"/>
            </a:xfrm>
            <a:custGeom>
              <a:avLst/>
              <a:gdLst/>
              <a:ahLst/>
              <a:cxnLst/>
              <a:rect r="r" b="b" t="t" l="l"/>
              <a:pathLst>
                <a:path h="310896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6" r="0" b="-50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877824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24253" y="3161538"/>
            <a:ext cx="3771900" cy="466344"/>
            <a:chOff x="0" y="0"/>
            <a:chExt cx="5029200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29200" cy="621792"/>
            </a:xfrm>
            <a:custGeom>
              <a:avLst/>
              <a:gdLst/>
              <a:ahLst/>
              <a:cxnLst/>
              <a:rect r="r" b="b" t="t" l="l"/>
              <a:pathLst>
                <a:path h="621792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99" r="0" b="-10759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5029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Objetivos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48408" y="4048568"/>
            <a:ext cx="4498343" cy="379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Centralizar productos, clientes y stock.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Generar cotizaciones profesionales en pocos pasos.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Reducir errores por planillas o registros duplicados.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Mantener trazabilidad de movimientos y cotizaciones.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272403" y="2733675"/>
            <a:ext cx="5231130" cy="5121402"/>
            <a:chOff x="0" y="0"/>
            <a:chExt cx="6974840" cy="68285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74840" cy="6828536"/>
            </a:xfrm>
            <a:custGeom>
              <a:avLst/>
              <a:gdLst/>
              <a:ahLst/>
              <a:cxnLst/>
              <a:rect r="r" b="b" t="t" l="l"/>
              <a:pathLst>
                <a:path h="6828536" w="69748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7901" y="0"/>
                  </a:lnTo>
                  <a:cubicBezTo>
                    <a:pt x="6909054" y="0"/>
                    <a:pt x="6974840" y="65786"/>
                    <a:pt x="6974840" y="146939"/>
                  </a:cubicBezTo>
                  <a:lnTo>
                    <a:pt x="6974840" y="6681597"/>
                  </a:lnTo>
                  <a:cubicBezTo>
                    <a:pt x="6974840" y="6762750"/>
                    <a:pt x="6909054" y="6828536"/>
                    <a:pt x="6827901" y="6828536"/>
                  </a:cubicBezTo>
                  <a:lnTo>
                    <a:pt x="146939" y="6828536"/>
                  </a:lnTo>
                  <a:cubicBezTo>
                    <a:pt x="65786" y="6828536"/>
                    <a:pt x="0" y="6762750"/>
                    <a:pt x="0" y="66815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574155" y="3035427"/>
            <a:ext cx="677418" cy="677418"/>
            <a:chOff x="0" y="0"/>
            <a:chExt cx="903224" cy="9032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583680" y="3249134"/>
            <a:ext cx="658368" cy="250003"/>
            <a:chOff x="0" y="0"/>
            <a:chExt cx="877824" cy="3333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7824" cy="333338"/>
            </a:xfrm>
            <a:custGeom>
              <a:avLst/>
              <a:gdLst/>
              <a:ahLst/>
              <a:cxnLst/>
              <a:rect r="r" b="b" t="t" l="l"/>
              <a:pathLst>
                <a:path h="33333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33338"/>
                  </a:lnTo>
                  <a:lnTo>
                    <a:pt x="0" y="3333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8" r="0" b="20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77824" cy="34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413498" y="3161538"/>
            <a:ext cx="3771900" cy="466344"/>
            <a:chOff x="0" y="0"/>
            <a:chExt cx="5029200" cy="6217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29200" cy="621792"/>
            </a:xfrm>
            <a:custGeom>
              <a:avLst/>
              <a:gdLst/>
              <a:ahLst/>
              <a:cxnLst/>
              <a:rect r="r" b="b" t="t" l="l"/>
              <a:pathLst>
                <a:path h="621792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99" r="0" b="-10759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029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Alcance MVP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638796" y="4048568"/>
            <a:ext cx="4498343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Login y roles básicos.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CRUD de productos, clientes y categorías.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Entradas/salidas de inventario y alertas de stock.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Cotizador con ítems, descuentos, IVA y PDF.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Historial y dashboard básico.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662791" y="2733675"/>
            <a:ext cx="5738622" cy="5121402"/>
            <a:chOff x="0" y="0"/>
            <a:chExt cx="7651496" cy="68285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51496" cy="6828536"/>
            </a:xfrm>
            <a:custGeom>
              <a:avLst/>
              <a:gdLst/>
              <a:ahLst/>
              <a:cxnLst/>
              <a:rect r="r" b="b" t="t" l="l"/>
              <a:pathLst>
                <a:path h="6828536" w="765149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7504557" y="0"/>
                  </a:lnTo>
                  <a:cubicBezTo>
                    <a:pt x="7585710" y="0"/>
                    <a:pt x="7651496" y="65786"/>
                    <a:pt x="7651496" y="146939"/>
                  </a:cubicBezTo>
                  <a:lnTo>
                    <a:pt x="7651496" y="6681597"/>
                  </a:lnTo>
                  <a:cubicBezTo>
                    <a:pt x="7651496" y="6762750"/>
                    <a:pt x="7585710" y="6828536"/>
                    <a:pt x="7504557" y="6828536"/>
                  </a:cubicBezTo>
                  <a:lnTo>
                    <a:pt x="146939" y="6828536"/>
                  </a:lnTo>
                  <a:cubicBezTo>
                    <a:pt x="65786" y="6828536"/>
                    <a:pt x="0" y="6762750"/>
                    <a:pt x="0" y="66815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964543" y="3035427"/>
            <a:ext cx="677418" cy="677418"/>
            <a:chOff x="0" y="0"/>
            <a:chExt cx="903224" cy="9032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D97706"/>
            </a:solidFill>
            <a:ln w="1905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974068" y="3257550"/>
            <a:ext cx="658368" cy="250003"/>
            <a:chOff x="0" y="0"/>
            <a:chExt cx="877824" cy="3333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77824" cy="333338"/>
            </a:xfrm>
            <a:custGeom>
              <a:avLst/>
              <a:gdLst/>
              <a:ahLst/>
              <a:cxnLst/>
              <a:rect r="r" b="b" t="t" l="l"/>
              <a:pathLst>
                <a:path h="33333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33338"/>
                  </a:lnTo>
                  <a:lnTo>
                    <a:pt x="0" y="3333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8" r="0" b="205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877824" cy="34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803886" y="3161538"/>
            <a:ext cx="4279392" cy="466344"/>
            <a:chOff x="0" y="0"/>
            <a:chExt cx="5705856" cy="6217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05856" cy="621792"/>
            </a:xfrm>
            <a:custGeom>
              <a:avLst/>
              <a:gdLst/>
              <a:ahLst/>
              <a:cxnLst/>
              <a:rect r="r" b="b" t="t" l="l"/>
              <a:pathLst>
                <a:path h="621792" w="5705856">
                  <a:moveTo>
                    <a:pt x="0" y="0"/>
                  </a:moveTo>
                  <a:lnTo>
                    <a:pt x="5705856" y="0"/>
                  </a:lnTo>
                  <a:lnTo>
                    <a:pt x="5705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803" r="0" b="-12880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705856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Fuera del MVP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070585" y="4048568"/>
            <a:ext cx="5005835" cy="379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Contabilidad completa y conciliación bancaria.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Facturación electrónica directa con SII.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Marketplace o tienda e-commerce.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Integraciones ERP avanzadas.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066841" y="8055102"/>
            <a:ext cx="3971437" cy="485394"/>
            <a:chOff x="0" y="0"/>
            <a:chExt cx="5295250" cy="6471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95250" cy="647192"/>
            </a:xfrm>
            <a:custGeom>
              <a:avLst/>
              <a:gdLst/>
              <a:ahLst/>
              <a:cxnLst/>
              <a:rect r="r" b="b" t="t" l="l"/>
              <a:pathLst>
                <a:path h="647192" w="5295250">
                  <a:moveTo>
                    <a:pt x="0" y="152273"/>
                  </a:moveTo>
                  <a:cubicBezTo>
                    <a:pt x="0" y="68199"/>
                    <a:pt x="38995" y="0"/>
                    <a:pt x="87068" y="0"/>
                  </a:cubicBezTo>
                  <a:lnTo>
                    <a:pt x="5208182" y="0"/>
                  </a:lnTo>
                  <a:cubicBezTo>
                    <a:pt x="5256254" y="0"/>
                    <a:pt x="5295250" y="68199"/>
                    <a:pt x="5295250" y="152273"/>
                  </a:cubicBezTo>
                  <a:lnTo>
                    <a:pt x="5295250" y="494919"/>
                  </a:lnTo>
                  <a:cubicBezTo>
                    <a:pt x="5295250" y="578993"/>
                    <a:pt x="5256254" y="647192"/>
                    <a:pt x="5208182" y="647192"/>
                  </a:cubicBezTo>
                  <a:lnTo>
                    <a:pt x="87068" y="647192"/>
                  </a:lnTo>
                  <a:cubicBezTo>
                    <a:pt x="38995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5698998" y="8174355"/>
            <a:ext cx="6707124" cy="246888"/>
            <a:chOff x="0" y="0"/>
            <a:chExt cx="8942832" cy="3291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942832" cy="329184"/>
            </a:xfrm>
            <a:custGeom>
              <a:avLst/>
              <a:gdLst/>
              <a:ahLst/>
              <a:cxnLst/>
              <a:rect r="r" b="b" t="t" l="l"/>
              <a:pathLst>
                <a:path h="329184" w="8942832">
                  <a:moveTo>
                    <a:pt x="0" y="0"/>
                  </a:moveTo>
                  <a:lnTo>
                    <a:pt x="8942832" y="0"/>
                  </a:lnTo>
                  <a:lnTo>
                    <a:pt x="894283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43" r="0" b="-47934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8942832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Metodología: Scrum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3642"/>
            <a:chOff x="0" y="0"/>
            <a:chExt cx="24408790" cy="24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710928"/>
            <a:ext cx="7543800" cy="246888"/>
            <a:chOff x="0" y="0"/>
            <a:chExt cx="100584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329184"/>
            </a:xfrm>
            <a:custGeom>
              <a:avLst/>
              <a:gdLst/>
              <a:ahLst/>
              <a:cxnLst/>
              <a:rect r="r" b="b" t="t" l="l"/>
              <a:pathLst>
                <a:path h="32918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376" r="0" b="-54537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0584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CAPSTONE · PTY4614-004D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1069848"/>
            <a:ext cx="16322040" cy="850392"/>
            <a:chOff x="0" y="0"/>
            <a:chExt cx="21762720" cy="1133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62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987" r="0" b="-3239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76272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Arquitectura y modelo de datos inicial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1961388"/>
            <a:ext cx="16184880" cy="576072"/>
            <a:chOff x="0" y="0"/>
            <a:chExt cx="21579840" cy="7680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79839" cy="768096"/>
            </a:xfrm>
            <a:custGeom>
              <a:avLst/>
              <a:gdLst/>
              <a:ahLst/>
              <a:cxnLst/>
              <a:rect r="r" b="b" t="t" l="l"/>
              <a:pathLst>
                <a:path h="76809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436" r="0" b="-4974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5798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Diseño web modular con separación entre interfaz, reglas de negocio y persistencia.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2688" y="2674620"/>
            <a:ext cx="5486400" cy="450800"/>
            <a:chOff x="0" y="0"/>
            <a:chExt cx="7315200" cy="6010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0" cy="601067"/>
            </a:xfrm>
            <a:custGeom>
              <a:avLst/>
              <a:gdLst/>
              <a:ahLst/>
              <a:cxnLst/>
              <a:rect r="r" b="b" t="t" l="l"/>
              <a:pathLst>
                <a:path h="601067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1067"/>
                  </a:lnTo>
                  <a:lnTo>
                    <a:pt x="0" y="601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500" r="0" b="-18277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315200" cy="60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Arquitectura de alto nivel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6122" y="3486150"/>
            <a:ext cx="2423160" cy="1325880"/>
            <a:chOff x="0" y="0"/>
            <a:chExt cx="3230880" cy="1767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30880" cy="1767840"/>
            </a:xfrm>
            <a:custGeom>
              <a:avLst/>
              <a:gdLst/>
              <a:ahLst/>
              <a:cxnLst/>
              <a:rect r="r" b="b" t="t" l="l"/>
              <a:pathLst>
                <a:path h="1767840" w="323088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3100578" y="0"/>
                  </a:lnTo>
                  <a:cubicBezTo>
                    <a:pt x="3172460" y="0"/>
                    <a:pt x="3230880" y="58293"/>
                    <a:pt x="3230880" y="130302"/>
                  </a:cubicBezTo>
                  <a:lnTo>
                    <a:pt x="3230880" y="1637538"/>
                  </a:lnTo>
                  <a:cubicBezTo>
                    <a:pt x="3230880" y="1709420"/>
                    <a:pt x="3172587" y="1767840"/>
                    <a:pt x="310057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EFF6FF"/>
            </a:solidFill>
            <a:ln w="22860" cap="sq">
              <a:solidFill>
                <a:srgbClr val="93C5F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3593592"/>
            <a:ext cx="2180844" cy="1110996"/>
            <a:chOff x="0" y="0"/>
            <a:chExt cx="2907792" cy="1481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07792" cy="1481328"/>
            </a:xfrm>
            <a:custGeom>
              <a:avLst/>
              <a:gdLst/>
              <a:ahLst/>
              <a:cxnLst/>
              <a:rect r="r" b="b" t="t" l="l"/>
              <a:pathLst>
                <a:path h="1481328" w="2907792">
                  <a:moveTo>
                    <a:pt x="0" y="0"/>
                  </a:moveTo>
                  <a:lnTo>
                    <a:pt x="2907792" y="0"/>
                  </a:lnTo>
                  <a:lnTo>
                    <a:pt x="290779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62" t="0" r="-1536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90779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D4E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Frontend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D4E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React / Vite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3413764" y="4074469"/>
            <a:ext cx="957814" cy="52526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4350258" y="3486150"/>
            <a:ext cx="2560320" cy="1325880"/>
            <a:chOff x="0" y="0"/>
            <a:chExt cx="3413760" cy="1767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13760" cy="1767840"/>
            </a:xfrm>
            <a:custGeom>
              <a:avLst/>
              <a:gdLst/>
              <a:ahLst/>
              <a:cxnLst/>
              <a:rect r="r" b="b" t="t" l="l"/>
              <a:pathLst>
                <a:path h="1767840" w="341376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3283458" y="0"/>
                  </a:lnTo>
                  <a:cubicBezTo>
                    <a:pt x="3355340" y="0"/>
                    <a:pt x="3413760" y="58293"/>
                    <a:pt x="3413760" y="130302"/>
                  </a:cubicBezTo>
                  <a:lnTo>
                    <a:pt x="3413760" y="1637538"/>
                  </a:lnTo>
                  <a:cubicBezTo>
                    <a:pt x="3413760" y="1709420"/>
                    <a:pt x="3355467" y="1767840"/>
                    <a:pt x="328345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471416" y="3593592"/>
            <a:ext cx="2318004" cy="1110996"/>
            <a:chOff x="0" y="0"/>
            <a:chExt cx="3090672" cy="14813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90672" cy="1481328"/>
            </a:xfrm>
            <a:custGeom>
              <a:avLst/>
              <a:gdLst/>
              <a:ahLst/>
              <a:cxnLst/>
              <a:rect r="r" b="b" t="t" l="l"/>
              <a:pathLst>
                <a:path h="1481328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494" t="0" r="-1149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09067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REST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FastAPI / Node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105720">
            <a:off x="6924818" y="4132707"/>
            <a:ext cx="991067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7916418" y="3486150"/>
            <a:ext cx="2971800" cy="1325880"/>
            <a:chOff x="0" y="0"/>
            <a:chExt cx="3962400" cy="1767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62400" cy="1767840"/>
            </a:xfrm>
            <a:custGeom>
              <a:avLst/>
              <a:gdLst/>
              <a:ahLst/>
              <a:cxnLst/>
              <a:rect r="r" b="b" t="t" l="l"/>
              <a:pathLst>
                <a:path h="1767840" w="396240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3832098" y="0"/>
                  </a:lnTo>
                  <a:cubicBezTo>
                    <a:pt x="3904107" y="0"/>
                    <a:pt x="3962400" y="58293"/>
                    <a:pt x="3962400" y="130302"/>
                  </a:cubicBezTo>
                  <a:lnTo>
                    <a:pt x="3962400" y="1637538"/>
                  </a:lnTo>
                  <a:cubicBezTo>
                    <a:pt x="3962400" y="1709420"/>
                    <a:pt x="3904107" y="1767840"/>
                    <a:pt x="383209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037576" y="3593592"/>
            <a:ext cx="2729484" cy="1110996"/>
            <a:chOff x="0" y="0"/>
            <a:chExt cx="3639312" cy="14813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39312" cy="1481328"/>
            </a:xfrm>
            <a:custGeom>
              <a:avLst/>
              <a:gdLst/>
              <a:ahLst/>
              <a:cxnLst/>
              <a:rect r="r" b="b" t="t" l="l"/>
              <a:pathLst>
                <a:path h="148132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24" t="0" r="-222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63931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Servicios de negocio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stock · cotización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102900">
            <a:off x="10902467" y="4132707"/>
            <a:ext cx="1018489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11921490" y="3486150"/>
            <a:ext cx="2491740" cy="1325880"/>
            <a:chOff x="0" y="0"/>
            <a:chExt cx="3322320" cy="1767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22320" cy="1767840"/>
            </a:xfrm>
            <a:custGeom>
              <a:avLst/>
              <a:gdLst/>
              <a:ahLst/>
              <a:cxnLst/>
              <a:rect r="r" b="b" t="t" l="l"/>
              <a:pathLst>
                <a:path h="1767840" w="332232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3192018" y="0"/>
                  </a:lnTo>
                  <a:cubicBezTo>
                    <a:pt x="3263900" y="0"/>
                    <a:pt x="3322320" y="58293"/>
                    <a:pt x="3322320" y="130302"/>
                  </a:cubicBezTo>
                  <a:lnTo>
                    <a:pt x="3322320" y="1637538"/>
                  </a:lnTo>
                  <a:cubicBezTo>
                    <a:pt x="3322320" y="1709420"/>
                    <a:pt x="3264027" y="1767840"/>
                    <a:pt x="319201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ECFDF5"/>
            </a:solidFill>
            <a:ln w="22860" cap="sq">
              <a:solidFill>
                <a:srgbClr val="A7F3D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042648" y="3593592"/>
            <a:ext cx="2249424" cy="1110996"/>
            <a:chOff x="0" y="0"/>
            <a:chExt cx="2999232" cy="14813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99232" cy="1481328"/>
            </a:xfrm>
            <a:custGeom>
              <a:avLst/>
              <a:gdLst/>
              <a:ahLst/>
              <a:cxnLst/>
              <a:rect r="r" b="b" t="t" l="l"/>
              <a:pathLst>
                <a:path h="1481328" w="2999232">
                  <a:moveTo>
                    <a:pt x="0" y="0"/>
                  </a:moveTo>
                  <a:lnTo>
                    <a:pt x="2999232" y="0"/>
                  </a:lnTo>
                  <a:lnTo>
                    <a:pt x="299923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69" t="0" r="-1336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99923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596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PostgreSQL /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596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Supabase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110340">
            <a:off x="14427460" y="4132707"/>
            <a:ext cx="949938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0" id="40"/>
          <p:cNvGrpSpPr/>
          <p:nvPr/>
        </p:nvGrpSpPr>
        <p:grpSpPr>
          <a:xfrm rot="0">
            <a:off x="15377922" y="3486150"/>
            <a:ext cx="1737360" cy="1325880"/>
            <a:chOff x="0" y="0"/>
            <a:chExt cx="2316480" cy="1767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16480" cy="1767840"/>
            </a:xfrm>
            <a:custGeom>
              <a:avLst/>
              <a:gdLst/>
              <a:ahLst/>
              <a:cxnLst/>
              <a:rect r="r" b="b" t="t" l="l"/>
              <a:pathLst>
                <a:path h="1767840" w="231648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2186178" y="0"/>
                  </a:lnTo>
                  <a:cubicBezTo>
                    <a:pt x="2258060" y="0"/>
                    <a:pt x="2316480" y="58293"/>
                    <a:pt x="2316480" y="130302"/>
                  </a:cubicBezTo>
                  <a:lnTo>
                    <a:pt x="2316480" y="1637538"/>
                  </a:lnTo>
                  <a:cubicBezTo>
                    <a:pt x="2316480" y="1709420"/>
                    <a:pt x="2258187" y="1767840"/>
                    <a:pt x="218617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FFFBEB"/>
            </a:solidFill>
            <a:ln w="22860" cap="sq">
              <a:solidFill>
                <a:srgbClr val="FDE68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5499080" y="3593592"/>
            <a:ext cx="1495044" cy="1110996"/>
            <a:chOff x="0" y="0"/>
            <a:chExt cx="1993392" cy="14813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93392" cy="1481328"/>
            </a:xfrm>
            <a:custGeom>
              <a:avLst/>
              <a:gdLst/>
              <a:ahLst/>
              <a:cxnLst/>
              <a:rect r="r" b="b" t="t" l="l"/>
              <a:pathLst>
                <a:path h="1481328" w="1993392">
                  <a:moveTo>
                    <a:pt x="0" y="0"/>
                  </a:moveTo>
                  <a:lnTo>
                    <a:pt x="1993392" y="0"/>
                  </a:lnTo>
                  <a:lnTo>
                    <a:pt x="199339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44" t="0" r="-4534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99339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D9770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PDF /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D9770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archivos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8027" y="5380863"/>
            <a:ext cx="6931914" cy="1966722"/>
            <a:chOff x="0" y="0"/>
            <a:chExt cx="9242552" cy="26222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42552" cy="2622296"/>
            </a:xfrm>
            <a:custGeom>
              <a:avLst/>
              <a:gdLst/>
              <a:ahLst/>
              <a:cxnLst/>
              <a:rect r="r" b="b" t="t" l="l"/>
              <a:pathLst>
                <a:path h="2622296" w="9242552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9113266" y="0"/>
                  </a:lnTo>
                  <a:cubicBezTo>
                    <a:pt x="9184640" y="0"/>
                    <a:pt x="9242552" y="57912"/>
                    <a:pt x="9242552" y="129286"/>
                  </a:cubicBezTo>
                  <a:lnTo>
                    <a:pt x="9242552" y="2493010"/>
                  </a:lnTo>
                  <a:cubicBezTo>
                    <a:pt x="9242552" y="2564384"/>
                    <a:pt x="9184640" y="2622296"/>
                    <a:pt x="9113266" y="2622296"/>
                  </a:cubicBezTo>
                  <a:lnTo>
                    <a:pt x="129286" y="2622296"/>
                  </a:lnTo>
                  <a:cubicBezTo>
                    <a:pt x="57912" y="2622296"/>
                    <a:pt x="0" y="2564384"/>
                    <a:pt x="0" y="24930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16736" y="5719572"/>
            <a:ext cx="2263140" cy="342900"/>
            <a:chOff x="0" y="0"/>
            <a:chExt cx="3017520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17520" cy="457200"/>
            </a:xfrm>
            <a:custGeom>
              <a:avLst/>
              <a:gdLst/>
              <a:ahLst/>
              <a:cxnLst/>
              <a:rect r="r" b="b" t="t" l="l"/>
              <a:pathLst>
                <a:path h="45720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0175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Reglas principales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6736" y="6035040"/>
            <a:ext cx="4114800" cy="1069848"/>
            <a:chOff x="0" y="0"/>
            <a:chExt cx="5486400" cy="14264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64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548640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• stock nunca negativo sin autorización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• total de cotización calculado en backend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• movimientos auditables por usuario y fecha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394192" y="5486400"/>
            <a:ext cx="4114800" cy="411480"/>
            <a:chOff x="0" y="0"/>
            <a:chExt cx="54864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Modelo de datos inicial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384667" y="6135243"/>
            <a:ext cx="2785110" cy="869442"/>
            <a:chOff x="0" y="0"/>
            <a:chExt cx="3713480" cy="11592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7134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71348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620008" y="0"/>
                  </a:lnTo>
                  <a:cubicBezTo>
                    <a:pt x="3671697" y="0"/>
                    <a:pt x="3713480" y="41910"/>
                    <a:pt x="3713480" y="93472"/>
                  </a:cubicBezTo>
                  <a:lnTo>
                    <a:pt x="3713480" y="1065784"/>
                  </a:lnTo>
                  <a:cubicBezTo>
                    <a:pt x="3713480" y="1117473"/>
                    <a:pt x="3671570" y="1159256"/>
                    <a:pt x="362000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8384667" y="6135243"/>
            <a:ext cx="115062" cy="869442"/>
            <a:chOff x="0" y="0"/>
            <a:chExt cx="153416" cy="11592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8627364" y="6309360"/>
            <a:ext cx="2423160" cy="438912"/>
            <a:chOff x="0" y="0"/>
            <a:chExt cx="3230880" cy="5852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30880" cy="585216"/>
            </a:xfrm>
            <a:custGeom>
              <a:avLst/>
              <a:gdLst/>
              <a:ahLst/>
              <a:cxnLst/>
              <a:rect r="r" b="b" t="t" l="l"/>
              <a:pathLst>
                <a:path h="585216" w="3230880">
                  <a:moveTo>
                    <a:pt x="0" y="0"/>
                  </a:moveTo>
                  <a:lnTo>
                    <a:pt x="3230880" y="0"/>
                  </a:lnTo>
                  <a:lnTo>
                    <a:pt x="3230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2308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Usuario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356467" y="6135243"/>
            <a:ext cx="2785110" cy="869442"/>
            <a:chOff x="0" y="0"/>
            <a:chExt cx="3713480" cy="11592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7134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71348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620008" y="0"/>
                  </a:lnTo>
                  <a:cubicBezTo>
                    <a:pt x="3671697" y="0"/>
                    <a:pt x="3713480" y="41910"/>
                    <a:pt x="3713480" y="93472"/>
                  </a:cubicBezTo>
                  <a:lnTo>
                    <a:pt x="3713480" y="1065784"/>
                  </a:lnTo>
                  <a:cubicBezTo>
                    <a:pt x="3713480" y="1117473"/>
                    <a:pt x="3671570" y="1159256"/>
                    <a:pt x="362000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1356467" y="6135243"/>
            <a:ext cx="115062" cy="869442"/>
            <a:chOff x="0" y="0"/>
            <a:chExt cx="153416" cy="11592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599164" y="6309360"/>
            <a:ext cx="2423160" cy="438912"/>
            <a:chOff x="0" y="0"/>
            <a:chExt cx="3230880" cy="5852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230880" cy="585216"/>
            </a:xfrm>
            <a:custGeom>
              <a:avLst/>
              <a:gdLst/>
              <a:ahLst/>
              <a:cxnLst/>
              <a:rect r="r" b="b" t="t" l="l"/>
              <a:pathLst>
                <a:path h="585216" w="3230880">
                  <a:moveTo>
                    <a:pt x="0" y="0"/>
                  </a:moveTo>
                  <a:lnTo>
                    <a:pt x="3230880" y="0"/>
                  </a:lnTo>
                  <a:lnTo>
                    <a:pt x="3230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32308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Cliente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328267" y="6135243"/>
            <a:ext cx="2785110" cy="869442"/>
            <a:chOff x="0" y="0"/>
            <a:chExt cx="3713480" cy="115925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7134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71348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620008" y="0"/>
                  </a:lnTo>
                  <a:cubicBezTo>
                    <a:pt x="3671697" y="0"/>
                    <a:pt x="3713480" y="41910"/>
                    <a:pt x="3713480" y="93472"/>
                  </a:cubicBezTo>
                  <a:lnTo>
                    <a:pt x="3713480" y="1065784"/>
                  </a:lnTo>
                  <a:cubicBezTo>
                    <a:pt x="3713480" y="1117473"/>
                    <a:pt x="3671570" y="1159256"/>
                    <a:pt x="362000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328267" y="6135243"/>
            <a:ext cx="115062" cy="869442"/>
            <a:chOff x="0" y="0"/>
            <a:chExt cx="153416" cy="11592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4570964" y="6309360"/>
            <a:ext cx="2423160" cy="438912"/>
            <a:chOff x="0" y="0"/>
            <a:chExt cx="3230880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230880" cy="585216"/>
            </a:xfrm>
            <a:custGeom>
              <a:avLst/>
              <a:gdLst/>
              <a:ahLst/>
              <a:cxnLst/>
              <a:rect r="r" b="b" t="t" l="l"/>
              <a:pathLst>
                <a:path h="585216" w="3230880">
                  <a:moveTo>
                    <a:pt x="0" y="0"/>
                  </a:moveTo>
                  <a:lnTo>
                    <a:pt x="3230880" y="0"/>
                  </a:lnTo>
                  <a:lnTo>
                    <a:pt x="3230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32308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Producto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384667" y="7218807"/>
            <a:ext cx="2785110" cy="869442"/>
            <a:chOff x="0" y="0"/>
            <a:chExt cx="3713480" cy="11592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7134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71348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620008" y="0"/>
                  </a:lnTo>
                  <a:cubicBezTo>
                    <a:pt x="3671697" y="0"/>
                    <a:pt x="3713480" y="41910"/>
                    <a:pt x="3713480" y="93472"/>
                  </a:cubicBezTo>
                  <a:lnTo>
                    <a:pt x="3713480" y="1065784"/>
                  </a:lnTo>
                  <a:cubicBezTo>
                    <a:pt x="3713480" y="1117473"/>
                    <a:pt x="3671570" y="1159256"/>
                    <a:pt x="362000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8384667" y="7218807"/>
            <a:ext cx="115062" cy="869442"/>
            <a:chOff x="0" y="0"/>
            <a:chExt cx="153416" cy="11592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8627364" y="7392924"/>
            <a:ext cx="2423160" cy="438912"/>
            <a:chOff x="0" y="0"/>
            <a:chExt cx="3230880" cy="58521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230880" cy="585216"/>
            </a:xfrm>
            <a:custGeom>
              <a:avLst/>
              <a:gdLst/>
              <a:ahLst/>
              <a:cxnLst/>
              <a:rect r="r" b="b" t="t" l="l"/>
              <a:pathLst>
                <a:path h="585216" w="3230880">
                  <a:moveTo>
                    <a:pt x="0" y="0"/>
                  </a:moveTo>
                  <a:lnTo>
                    <a:pt x="3230880" y="0"/>
                  </a:lnTo>
                  <a:lnTo>
                    <a:pt x="3230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32308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MovimientoStock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356467" y="7218807"/>
            <a:ext cx="2785110" cy="869442"/>
            <a:chOff x="0" y="0"/>
            <a:chExt cx="3713480" cy="11592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7134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71348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620008" y="0"/>
                  </a:lnTo>
                  <a:cubicBezTo>
                    <a:pt x="3671697" y="0"/>
                    <a:pt x="3713480" y="41910"/>
                    <a:pt x="3713480" y="93472"/>
                  </a:cubicBezTo>
                  <a:lnTo>
                    <a:pt x="3713480" y="1065784"/>
                  </a:lnTo>
                  <a:cubicBezTo>
                    <a:pt x="3713480" y="1117473"/>
                    <a:pt x="3671570" y="1159256"/>
                    <a:pt x="362000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1356467" y="7218807"/>
            <a:ext cx="115062" cy="869442"/>
            <a:chOff x="0" y="0"/>
            <a:chExt cx="153416" cy="115925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1599164" y="7392924"/>
            <a:ext cx="2423160" cy="438912"/>
            <a:chOff x="0" y="0"/>
            <a:chExt cx="3230880" cy="5852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230880" cy="585216"/>
            </a:xfrm>
            <a:custGeom>
              <a:avLst/>
              <a:gdLst/>
              <a:ahLst/>
              <a:cxnLst/>
              <a:rect r="r" b="b" t="t" l="l"/>
              <a:pathLst>
                <a:path h="585216" w="3230880">
                  <a:moveTo>
                    <a:pt x="0" y="0"/>
                  </a:moveTo>
                  <a:lnTo>
                    <a:pt x="3230880" y="0"/>
                  </a:lnTo>
                  <a:lnTo>
                    <a:pt x="3230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32308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Cotización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328267" y="7218807"/>
            <a:ext cx="2785110" cy="869442"/>
            <a:chOff x="0" y="0"/>
            <a:chExt cx="3713480" cy="115925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7134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71348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620008" y="0"/>
                  </a:lnTo>
                  <a:cubicBezTo>
                    <a:pt x="3671697" y="0"/>
                    <a:pt x="3713480" y="41910"/>
                    <a:pt x="3713480" y="93472"/>
                  </a:cubicBezTo>
                  <a:lnTo>
                    <a:pt x="3713480" y="1065784"/>
                  </a:lnTo>
                  <a:cubicBezTo>
                    <a:pt x="3713480" y="1117473"/>
                    <a:pt x="3671570" y="1159256"/>
                    <a:pt x="362000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4328267" y="7218807"/>
            <a:ext cx="115062" cy="869442"/>
            <a:chOff x="0" y="0"/>
            <a:chExt cx="153416" cy="11592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4570964" y="7392924"/>
            <a:ext cx="2423160" cy="438912"/>
            <a:chOff x="0" y="0"/>
            <a:chExt cx="3230880" cy="5852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230880" cy="585216"/>
            </a:xfrm>
            <a:custGeom>
              <a:avLst/>
              <a:gdLst/>
              <a:ahLst/>
              <a:cxnLst/>
              <a:rect r="r" b="b" t="t" l="l"/>
              <a:pathLst>
                <a:path h="585216" w="3230880">
                  <a:moveTo>
                    <a:pt x="0" y="0"/>
                  </a:moveTo>
                  <a:lnTo>
                    <a:pt x="3230880" y="0"/>
                  </a:lnTo>
                  <a:lnTo>
                    <a:pt x="3230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32308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DetalleCotización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3642"/>
            <a:chOff x="0" y="0"/>
            <a:chExt cx="24408790" cy="24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710928"/>
            <a:ext cx="7543800" cy="246888"/>
            <a:chOff x="0" y="0"/>
            <a:chExt cx="100584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329184"/>
            </a:xfrm>
            <a:custGeom>
              <a:avLst/>
              <a:gdLst/>
              <a:ahLst/>
              <a:cxnLst/>
              <a:rect r="r" b="b" t="t" l="l"/>
              <a:pathLst>
                <a:path h="32918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376" r="0" b="-54537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0584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CAPSTONE · PTY4614-004D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658368"/>
            <a:ext cx="4526280" cy="315468"/>
            <a:chOff x="0" y="0"/>
            <a:chExt cx="6035040" cy="4206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35040" cy="420624"/>
            </a:xfrm>
            <a:custGeom>
              <a:avLst/>
              <a:gdLst/>
              <a:ahLst/>
              <a:cxnLst/>
              <a:rect r="r" b="b" t="t" l="l"/>
              <a:pathLst>
                <a:path h="42062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567" r="0" b="-229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03504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64">
                  <a:solidFill>
                    <a:srgbClr val="1D4E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Segunda alternativa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1069848"/>
            <a:ext cx="16322040" cy="850392"/>
            <a:chOff x="0" y="0"/>
            <a:chExt cx="2176272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987" r="0" b="-323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176272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Agente de IA para CRM inmobiliario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1540" y="1961388"/>
            <a:ext cx="16184880" cy="576072"/>
            <a:chOff x="0" y="0"/>
            <a:chExt cx="2157984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9839" cy="768096"/>
            </a:xfrm>
            <a:custGeom>
              <a:avLst/>
              <a:gdLst/>
              <a:ahLst/>
              <a:cxnLst/>
              <a:rect r="r" b="b" t="t" l="l"/>
              <a:pathLst>
                <a:path h="76809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436" r="0" b="-49743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5798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Asistente orientado a gestión comercial y documental: prioriza leads, resume información y apoya validaciones con trazabilidad.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2015" y="2733675"/>
            <a:ext cx="5231130" cy="5121402"/>
            <a:chOff x="0" y="0"/>
            <a:chExt cx="6974840" cy="68285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74840" cy="6828536"/>
            </a:xfrm>
            <a:custGeom>
              <a:avLst/>
              <a:gdLst/>
              <a:ahLst/>
              <a:cxnLst/>
              <a:rect r="r" b="b" t="t" l="l"/>
              <a:pathLst>
                <a:path h="6828536" w="69748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7901" y="0"/>
                  </a:lnTo>
                  <a:cubicBezTo>
                    <a:pt x="6909054" y="0"/>
                    <a:pt x="6974840" y="65786"/>
                    <a:pt x="6974840" y="146939"/>
                  </a:cubicBezTo>
                  <a:lnTo>
                    <a:pt x="6974840" y="6681597"/>
                  </a:lnTo>
                  <a:cubicBezTo>
                    <a:pt x="6974840" y="6762750"/>
                    <a:pt x="6909054" y="6828536"/>
                    <a:pt x="6827901" y="6828536"/>
                  </a:cubicBezTo>
                  <a:lnTo>
                    <a:pt x="146939" y="6828536"/>
                  </a:lnTo>
                  <a:cubicBezTo>
                    <a:pt x="65786" y="6828536"/>
                    <a:pt x="0" y="6762750"/>
                    <a:pt x="0" y="66815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83767" y="3035427"/>
            <a:ext cx="677418" cy="677418"/>
            <a:chOff x="0" y="0"/>
            <a:chExt cx="903224" cy="9032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93292" y="3278124"/>
            <a:ext cx="658368" cy="233172"/>
            <a:chOff x="0" y="0"/>
            <a:chExt cx="877824" cy="3108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" cy="310896"/>
            </a:xfrm>
            <a:custGeom>
              <a:avLst/>
              <a:gdLst/>
              <a:ahLst/>
              <a:cxnLst/>
              <a:rect r="r" b="b" t="t" l="l"/>
              <a:pathLst>
                <a:path h="310896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6" r="0" b="-50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877824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24253" y="3161538"/>
            <a:ext cx="3771900" cy="466344"/>
            <a:chOff x="0" y="0"/>
            <a:chExt cx="5029200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29200" cy="621792"/>
            </a:xfrm>
            <a:custGeom>
              <a:avLst/>
              <a:gdLst/>
              <a:ahLst/>
              <a:cxnLst/>
              <a:rect r="r" b="b" t="t" l="l"/>
              <a:pathLst>
                <a:path h="621792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99" r="0" b="-10759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5029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Objetivos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93292" y="4056250"/>
            <a:ext cx="4498343" cy="379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Reducir tiempo de revisión y seguimiento comercial.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Priorizar oportunidades según contexto del lead.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Resumir conversaciones y documentos relevantes.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Asistir al ejecutivo sin reemplazar decisiones críticas.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272403" y="2733675"/>
            <a:ext cx="5231130" cy="5121402"/>
            <a:chOff x="0" y="0"/>
            <a:chExt cx="6974840" cy="68285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74840" cy="6828536"/>
            </a:xfrm>
            <a:custGeom>
              <a:avLst/>
              <a:gdLst/>
              <a:ahLst/>
              <a:cxnLst/>
              <a:rect r="r" b="b" t="t" l="l"/>
              <a:pathLst>
                <a:path h="6828536" w="69748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7901" y="0"/>
                  </a:lnTo>
                  <a:cubicBezTo>
                    <a:pt x="6909054" y="0"/>
                    <a:pt x="6974840" y="65786"/>
                    <a:pt x="6974840" y="146939"/>
                  </a:cubicBezTo>
                  <a:lnTo>
                    <a:pt x="6974840" y="6681597"/>
                  </a:lnTo>
                  <a:cubicBezTo>
                    <a:pt x="6974840" y="6762750"/>
                    <a:pt x="6909054" y="6828536"/>
                    <a:pt x="6827901" y="6828536"/>
                  </a:cubicBezTo>
                  <a:lnTo>
                    <a:pt x="146939" y="6828536"/>
                  </a:lnTo>
                  <a:cubicBezTo>
                    <a:pt x="65786" y="6828536"/>
                    <a:pt x="0" y="6762750"/>
                    <a:pt x="0" y="66815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574155" y="3035427"/>
            <a:ext cx="677418" cy="677418"/>
            <a:chOff x="0" y="0"/>
            <a:chExt cx="903224" cy="9032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583680" y="3278124"/>
            <a:ext cx="658368" cy="233172"/>
            <a:chOff x="0" y="0"/>
            <a:chExt cx="877824" cy="3108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7824" cy="310896"/>
            </a:xfrm>
            <a:custGeom>
              <a:avLst/>
              <a:gdLst/>
              <a:ahLst/>
              <a:cxnLst/>
              <a:rect r="r" b="b" t="t" l="l"/>
              <a:pathLst>
                <a:path h="310896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6" r="0" b="-501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77824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413498" y="3161538"/>
            <a:ext cx="3771900" cy="466344"/>
            <a:chOff x="0" y="0"/>
            <a:chExt cx="5029200" cy="6217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29200" cy="621792"/>
            </a:xfrm>
            <a:custGeom>
              <a:avLst/>
              <a:gdLst/>
              <a:ahLst/>
              <a:cxnLst/>
              <a:rect r="r" b="b" t="t" l="l"/>
              <a:pathLst>
                <a:path h="621792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99" r="0" b="-10759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029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Alcance MVP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638796" y="4056250"/>
            <a:ext cx="4498343" cy="379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Registro/importación de leads y propiedades.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Chat contextual con historial del cliente.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Lead scoring explicable mediante reglas + IA.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Análisis de 2–3 tipos de documentos.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Alertas, tareas y registro de auditoría.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662791" y="2733675"/>
            <a:ext cx="5738622" cy="5121402"/>
            <a:chOff x="0" y="0"/>
            <a:chExt cx="7651496" cy="68285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51496" cy="6828536"/>
            </a:xfrm>
            <a:custGeom>
              <a:avLst/>
              <a:gdLst/>
              <a:ahLst/>
              <a:cxnLst/>
              <a:rect r="r" b="b" t="t" l="l"/>
              <a:pathLst>
                <a:path h="6828536" w="765149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7504557" y="0"/>
                  </a:lnTo>
                  <a:cubicBezTo>
                    <a:pt x="7585710" y="0"/>
                    <a:pt x="7651496" y="65786"/>
                    <a:pt x="7651496" y="146939"/>
                  </a:cubicBezTo>
                  <a:lnTo>
                    <a:pt x="7651496" y="6681597"/>
                  </a:lnTo>
                  <a:cubicBezTo>
                    <a:pt x="7651496" y="6762750"/>
                    <a:pt x="7585710" y="6828536"/>
                    <a:pt x="7504557" y="6828536"/>
                  </a:cubicBezTo>
                  <a:lnTo>
                    <a:pt x="146939" y="6828536"/>
                  </a:lnTo>
                  <a:cubicBezTo>
                    <a:pt x="65786" y="6828536"/>
                    <a:pt x="0" y="6762750"/>
                    <a:pt x="0" y="66815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964543" y="3035427"/>
            <a:ext cx="677418" cy="677418"/>
            <a:chOff x="0" y="0"/>
            <a:chExt cx="903224" cy="9032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D97706"/>
            </a:solidFill>
            <a:ln w="1905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974068" y="3278124"/>
            <a:ext cx="658368" cy="250003"/>
            <a:chOff x="0" y="0"/>
            <a:chExt cx="877824" cy="3333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77824" cy="333338"/>
            </a:xfrm>
            <a:custGeom>
              <a:avLst/>
              <a:gdLst/>
              <a:ahLst/>
              <a:cxnLst/>
              <a:rect r="r" b="b" t="t" l="l"/>
              <a:pathLst>
                <a:path h="33333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33338"/>
                  </a:lnTo>
                  <a:lnTo>
                    <a:pt x="0" y="3333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8" r="0" b="205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877824" cy="34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797028" y="3161538"/>
            <a:ext cx="4279392" cy="466344"/>
            <a:chOff x="0" y="0"/>
            <a:chExt cx="5705856" cy="6217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05856" cy="621792"/>
            </a:xfrm>
            <a:custGeom>
              <a:avLst/>
              <a:gdLst/>
              <a:ahLst/>
              <a:cxnLst/>
              <a:rect r="r" b="b" t="t" l="l"/>
              <a:pathLst>
                <a:path h="621792" w="5705856">
                  <a:moveTo>
                    <a:pt x="0" y="0"/>
                  </a:moveTo>
                  <a:lnTo>
                    <a:pt x="5705856" y="0"/>
                  </a:lnTo>
                  <a:lnTo>
                    <a:pt x="5705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803" r="0" b="-12880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705856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Límites y seguridad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029184" y="4056250"/>
            <a:ext cx="5005835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Sin decisiones legales o financieras autónomas.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Datos sensibles minimizados y acceso por rol.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Validaciones críticas apoyadas por reglas determinísticas.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Revisión humana antes de acciones relevantes.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066841" y="8055102"/>
            <a:ext cx="3971437" cy="485394"/>
            <a:chOff x="0" y="0"/>
            <a:chExt cx="5295250" cy="6471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95250" cy="647192"/>
            </a:xfrm>
            <a:custGeom>
              <a:avLst/>
              <a:gdLst/>
              <a:ahLst/>
              <a:cxnLst/>
              <a:rect r="r" b="b" t="t" l="l"/>
              <a:pathLst>
                <a:path h="647192" w="5295250">
                  <a:moveTo>
                    <a:pt x="0" y="152273"/>
                  </a:moveTo>
                  <a:cubicBezTo>
                    <a:pt x="0" y="68199"/>
                    <a:pt x="38995" y="0"/>
                    <a:pt x="87068" y="0"/>
                  </a:cubicBezTo>
                  <a:lnTo>
                    <a:pt x="5208182" y="0"/>
                  </a:lnTo>
                  <a:cubicBezTo>
                    <a:pt x="5256254" y="0"/>
                    <a:pt x="5295250" y="68199"/>
                    <a:pt x="5295250" y="152273"/>
                  </a:cubicBezTo>
                  <a:lnTo>
                    <a:pt x="5295250" y="494919"/>
                  </a:lnTo>
                  <a:cubicBezTo>
                    <a:pt x="5295250" y="578993"/>
                    <a:pt x="5256254" y="647192"/>
                    <a:pt x="5208182" y="647192"/>
                  </a:cubicBezTo>
                  <a:lnTo>
                    <a:pt x="87068" y="647192"/>
                  </a:lnTo>
                  <a:cubicBezTo>
                    <a:pt x="38995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5698998" y="8174355"/>
            <a:ext cx="6707124" cy="246888"/>
            <a:chOff x="0" y="0"/>
            <a:chExt cx="8942832" cy="3291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942832" cy="329184"/>
            </a:xfrm>
            <a:custGeom>
              <a:avLst/>
              <a:gdLst/>
              <a:ahLst/>
              <a:cxnLst/>
              <a:rect r="r" b="b" t="t" l="l"/>
              <a:pathLst>
                <a:path h="329184" w="8942832">
                  <a:moveTo>
                    <a:pt x="0" y="0"/>
                  </a:moveTo>
                  <a:lnTo>
                    <a:pt x="8942832" y="0"/>
                  </a:lnTo>
                  <a:lnTo>
                    <a:pt x="894283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43" r="0" b="-47934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8942832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Metodología: Scrum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3642"/>
            <a:chOff x="0" y="0"/>
            <a:chExt cx="24408790" cy="24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710928"/>
            <a:ext cx="7543800" cy="246888"/>
            <a:chOff x="0" y="0"/>
            <a:chExt cx="100584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329184"/>
            </a:xfrm>
            <a:custGeom>
              <a:avLst/>
              <a:gdLst/>
              <a:ahLst/>
              <a:cxnLst/>
              <a:rect r="r" b="b" t="t" l="l"/>
              <a:pathLst>
                <a:path h="32918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376" r="0" b="-54537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0584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CAPSTONE · PTY4614-004D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1069848"/>
            <a:ext cx="16322040" cy="850392"/>
            <a:chOff x="0" y="0"/>
            <a:chExt cx="21762720" cy="1133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62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987" r="0" b="-3239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76272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Arquitectura y modelo de datos inicial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1961388"/>
            <a:ext cx="16184880" cy="576072"/>
            <a:chOff x="0" y="0"/>
            <a:chExt cx="21579840" cy="7680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79839" cy="768096"/>
            </a:xfrm>
            <a:custGeom>
              <a:avLst/>
              <a:gdLst/>
              <a:ahLst/>
              <a:cxnLst/>
              <a:rect r="r" b="b" t="t" l="l"/>
              <a:pathLst>
                <a:path h="76809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436" r="0" b="-4974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5798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Arquitectura híbrida: automatización con IA + reglas de negocio para resultados trazables y controlados.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2688" y="2674620"/>
            <a:ext cx="5486400" cy="411480"/>
            <a:chOff x="0" y="0"/>
            <a:chExt cx="73152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315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Arquitectura de alto nivel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6122" y="3486150"/>
            <a:ext cx="2148840" cy="1325880"/>
            <a:chOff x="0" y="0"/>
            <a:chExt cx="2865120" cy="1767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65120" cy="1767840"/>
            </a:xfrm>
            <a:custGeom>
              <a:avLst/>
              <a:gdLst/>
              <a:ahLst/>
              <a:cxnLst/>
              <a:rect r="r" b="b" t="t" l="l"/>
              <a:pathLst>
                <a:path h="1767840" w="286512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2734818" y="0"/>
                  </a:lnTo>
                  <a:cubicBezTo>
                    <a:pt x="2806700" y="0"/>
                    <a:pt x="2865120" y="58293"/>
                    <a:pt x="2865120" y="130302"/>
                  </a:cubicBezTo>
                  <a:lnTo>
                    <a:pt x="2865120" y="1637538"/>
                  </a:lnTo>
                  <a:cubicBezTo>
                    <a:pt x="2865120" y="1709420"/>
                    <a:pt x="2806827" y="1767840"/>
                    <a:pt x="273481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EFF6FF"/>
            </a:solidFill>
            <a:ln w="22860" cap="sq">
              <a:solidFill>
                <a:srgbClr val="93C5F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3593592"/>
            <a:ext cx="1906524" cy="1110996"/>
            <a:chOff x="0" y="0"/>
            <a:chExt cx="2542032" cy="1481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2032" cy="1481328"/>
            </a:xfrm>
            <a:custGeom>
              <a:avLst/>
              <a:gdLst/>
              <a:ahLst/>
              <a:cxnLst/>
              <a:rect r="r" b="b" t="t" l="l"/>
              <a:pathLst>
                <a:path h="1481328" w="2542032">
                  <a:moveTo>
                    <a:pt x="0" y="0"/>
                  </a:moveTo>
                  <a:lnTo>
                    <a:pt x="2542032" y="0"/>
                  </a:lnTo>
                  <a:lnTo>
                    <a:pt x="254203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766" t="0" r="-2476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54203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D4E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CRM / Web UI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122700">
            <a:off x="3139164" y="4132707"/>
            <a:ext cx="853983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3993642" y="3486150"/>
            <a:ext cx="2354580" cy="1325880"/>
            <a:chOff x="0" y="0"/>
            <a:chExt cx="3139440" cy="1767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39440" cy="1767840"/>
            </a:xfrm>
            <a:custGeom>
              <a:avLst/>
              <a:gdLst/>
              <a:ahLst/>
              <a:cxnLst/>
              <a:rect r="r" b="b" t="t" l="l"/>
              <a:pathLst>
                <a:path h="1767840" w="313944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3009138" y="0"/>
                  </a:lnTo>
                  <a:cubicBezTo>
                    <a:pt x="3081020" y="0"/>
                    <a:pt x="3139440" y="58293"/>
                    <a:pt x="3139440" y="130302"/>
                  </a:cubicBezTo>
                  <a:lnTo>
                    <a:pt x="3139440" y="1637538"/>
                  </a:lnTo>
                  <a:cubicBezTo>
                    <a:pt x="3139440" y="1709420"/>
                    <a:pt x="3081147" y="1767840"/>
                    <a:pt x="300913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14800" y="3593592"/>
            <a:ext cx="2112264" cy="1110996"/>
            <a:chOff x="0" y="0"/>
            <a:chExt cx="2816352" cy="14813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16352" cy="1481328"/>
            </a:xfrm>
            <a:custGeom>
              <a:avLst/>
              <a:gdLst/>
              <a:ahLst/>
              <a:cxnLst/>
              <a:rect r="r" b="b" t="t" l="l"/>
              <a:pathLst>
                <a:path h="1481328" w="2816352">
                  <a:moveTo>
                    <a:pt x="0" y="0"/>
                  </a:moveTo>
                  <a:lnTo>
                    <a:pt x="2816352" y="0"/>
                  </a:lnTo>
                  <a:lnTo>
                    <a:pt x="281635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484" t="0" r="-1748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81635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+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Orquestador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122700">
            <a:off x="6362424" y="4132707"/>
            <a:ext cx="853983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7216902" y="2978658"/>
            <a:ext cx="2560320" cy="1147572"/>
            <a:chOff x="0" y="0"/>
            <a:chExt cx="3413760" cy="1530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13760" cy="1530223"/>
            </a:xfrm>
            <a:custGeom>
              <a:avLst/>
              <a:gdLst/>
              <a:ahLst/>
              <a:cxnLst/>
              <a:rect r="r" b="b" t="t" l="l"/>
              <a:pathLst>
                <a:path h="1530223" w="3413760">
                  <a:moveTo>
                    <a:pt x="0" y="130683"/>
                  </a:moveTo>
                  <a:cubicBezTo>
                    <a:pt x="0" y="58420"/>
                    <a:pt x="58420" y="0"/>
                    <a:pt x="130683" y="0"/>
                  </a:cubicBezTo>
                  <a:lnTo>
                    <a:pt x="3283077" y="0"/>
                  </a:lnTo>
                  <a:cubicBezTo>
                    <a:pt x="3355213" y="0"/>
                    <a:pt x="3413760" y="58420"/>
                    <a:pt x="3413760" y="130683"/>
                  </a:cubicBezTo>
                  <a:lnTo>
                    <a:pt x="3413760" y="1399540"/>
                  </a:lnTo>
                  <a:cubicBezTo>
                    <a:pt x="3413760" y="1471676"/>
                    <a:pt x="3355340" y="1530223"/>
                    <a:pt x="3283077" y="1530223"/>
                  </a:cubicBezTo>
                  <a:lnTo>
                    <a:pt x="130683" y="1530223"/>
                  </a:lnTo>
                  <a:cubicBezTo>
                    <a:pt x="58420" y="1530096"/>
                    <a:pt x="0" y="1471676"/>
                    <a:pt x="0" y="1399413"/>
                  </a:cubicBezTo>
                  <a:close/>
                </a:path>
              </a:pathLst>
            </a:custGeom>
            <a:solidFill>
              <a:srgbClr val="ECFDF5"/>
            </a:solidFill>
            <a:ln w="22860" cap="sq">
              <a:solidFill>
                <a:srgbClr val="A7F3D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338060" y="3086100"/>
            <a:ext cx="2318004" cy="932688"/>
            <a:chOff x="0" y="0"/>
            <a:chExt cx="3090672" cy="12435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9067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5" t="0" r="-1625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09067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45"/>
                </a:lnSpc>
              </a:pPr>
              <a:r>
                <a:rPr lang="en-US" sz="1455" b="true">
                  <a:solidFill>
                    <a:srgbClr val="0596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Motor de reglas</a:t>
              </a:r>
            </a:p>
            <a:p>
              <a:pPr algn="ctr">
                <a:lnSpc>
                  <a:spcPts val="1745"/>
                </a:lnSpc>
              </a:pPr>
              <a:r>
                <a:rPr lang="en-US" sz="1455" b="true">
                  <a:solidFill>
                    <a:srgbClr val="0596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validación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216902" y="4213098"/>
            <a:ext cx="2560320" cy="1147572"/>
            <a:chOff x="0" y="0"/>
            <a:chExt cx="3413760" cy="1530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13760" cy="1530223"/>
            </a:xfrm>
            <a:custGeom>
              <a:avLst/>
              <a:gdLst/>
              <a:ahLst/>
              <a:cxnLst/>
              <a:rect r="r" b="b" t="t" l="l"/>
              <a:pathLst>
                <a:path h="1530223" w="3413760">
                  <a:moveTo>
                    <a:pt x="0" y="130683"/>
                  </a:moveTo>
                  <a:cubicBezTo>
                    <a:pt x="0" y="58420"/>
                    <a:pt x="58420" y="0"/>
                    <a:pt x="130683" y="0"/>
                  </a:cubicBezTo>
                  <a:lnTo>
                    <a:pt x="3283077" y="0"/>
                  </a:lnTo>
                  <a:cubicBezTo>
                    <a:pt x="3355213" y="0"/>
                    <a:pt x="3413760" y="58420"/>
                    <a:pt x="3413760" y="130683"/>
                  </a:cubicBezTo>
                  <a:lnTo>
                    <a:pt x="3413760" y="1399540"/>
                  </a:lnTo>
                  <a:cubicBezTo>
                    <a:pt x="3413760" y="1471676"/>
                    <a:pt x="3355340" y="1530223"/>
                    <a:pt x="3283077" y="1530223"/>
                  </a:cubicBezTo>
                  <a:lnTo>
                    <a:pt x="130683" y="1530223"/>
                  </a:lnTo>
                  <a:cubicBezTo>
                    <a:pt x="58420" y="1530096"/>
                    <a:pt x="0" y="1471676"/>
                    <a:pt x="0" y="1399413"/>
                  </a:cubicBezTo>
                  <a:close/>
                </a:path>
              </a:pathLst>
            </a:custGeom>
            <a:solidFill>
              <a:srgbClr val="ECFEFF"/>
            </a:solidFill>
            <a:ln w="22860" cap="sq">
              <a:solidFill>
                <a:srgbClr val="A5F3FC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338060" y="4320540"/>
            <a:ext cx="2318004" cy="932688"/>
            <a:chOff x="0" y="0"/>
            <a:chExt cx="3090672" cy="12435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9067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5" t="0" r="-162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09067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891B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Proveedor LLM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87540">
            <a:off x="9791510" y="3542919"/>
            <a:ext cx="1196731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rot="87540">
            <a:off x="9791510" y="4777359"/>
            <a:ext cx="1196731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0" id="40"/>
          <p:cNvGrpSpPr/>
          <p:nvPr/>
        </p:nvGrpSpPr>
        <p:grpSpPr>
          <a:xfrm rot="0">
            <a:off x="10988802" y="2978658"/>
            <a:ext cx="2628900" cy="1147572"/>
            <a:chOff x="0" y="0"/>
            <a:chExt cx="3505200" cy="1530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05200" cy="1530223"/>
            </a:xfrm>
            <a:custGeom>
              <a:avLst/>
              <a:gdLst/>
              <a:ahLst/>
              <a:cxnLst/>
              <a:rect r="r" b="b" t="t" l="l"/>
              <a:pathLst>
                <a:path h="1530223" w="3505200">
                  <a:moveTo>
                    <a:pt x="0" y="130683"/>
                  </a:moveTo>
                  <a:cubicBezTo>
                    <a:pt x="0" y="58420"/>
                    <a:pt x="58420" y="0"/>
                    <a:pt x="130683" y="0"/>
                  </a:cubicBezTo>
                  <a:lnTo>
                    <a:pt x="3374517" y="0"/>
                  </a:lnTo>
                  <a:cubicBezTo>
                    <a:pt x="3446780" y="0"/>
                    <a:pt x="3505200" y="58420"/>
                    <a:pt x="3505200" y="130683"/>
                  </a:cubicBezTo>
                  <a:lnTo>
                    <a:pt x="3505200" y="1399540"/>
                  </a:lnTo>
                  <a:cubicBezTo>
                    <a:pt x="3505200" y="1471676"/>
                    <a:pt x="3446780" y="1530223"/>
                    <a:pt x="3374517" y="1530223"/>
                  </a:cubicBezTo>
                  <a:lnTo>
                    <a:pt x="130683" y="1530223"/>
                  </a:lnTo>
                  <a:cubicBezTo>
                    <a:pt x="58420" y="1530096"/>
                    <a:pt x="0" y="1471676"/>
                    <a:pt x="0" y="1399413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109960" y="3086100"/>
            <a:ext cx="2386584" cy="932688"/>
            <a:chOff x="0" y="0"/>
            <a:chExt cx="3182112" cy="12435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18211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" t="0" r="-14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18211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Base de datos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PostgreSQL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988802" y="4213098"/>
            <a:ext cx="2628900" cy="1147572"/>
            <a:chOff x="0" y="0"/>
            <a:chExt cx="3505200" cy="15300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05200" cy="1530223"/>
            </a:xfrm>
            <a:custGeom>
              <a:avLst/>
              <a:gdLst/>
              <a:ahLst/>
              <a:cxnLst/>
              <a:rect r="r" b="b" t="t" l="l"/>
              <a:pathLst>
                <a:path h="1530223" w="3505200">
                  <a:moveTo>
                    <a:pt x="0" y="130683"/>
                  </a:moveTo>
                  <a:cubicBezTo>
                    <a:pt x="0" y="58420"/>
                    <a:pt x="58420" y="0"/>
                    <a:pt x="130683" y="0"/>
                  </a:cubicBezTo>
                  <a:lnTo>
                    <a:pt x="3374517" y="0"/>
                  </a:lnTo>
                  <a:cubicBezTo>
                    <a:pt x="3446780" y="0"/>
                    <a:pt x="3505200" y="58420"/>
                    <a:pt x="3505200" y="130683"/>
                  </a:cubicBezTo>
                  <a:lnTo>
                    <a:pt x="3505200" y="1399540"/>
                  </a:lnTo>
                  <a:cubicBezTo>
                    <a:pt x="3505200" y="1471676"/>
                    <a:pt x="3446780" y="1530223"/>
                    <a:pt x="3374517" y="1530223"/>
                  </a:cubicBezTo>
                  <a:lnTo>
                    <a:pt x="130683" y="1530223"/>
                  </a:lnTo>
                  <a:cubicBezTo>
                    <a:pt x="58420" y="1530096"/>
                    <a:pt x="0" y="1471676"/>
                    <a:pt x="0" y="1399413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109960" y="4320540"/>
            <a:ext cx="2386584" cy="932688"/>
            <a:chOff x="0" y="0"/>
            <a:chExt cx="3182112" cy="12435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18211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" t="0" r="-14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18211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Documentos /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Storage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104280">
            <a:off x="13631951" y="4132707"/>
            <a:ext cx="1004783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14637258" y="3486150"/>
            <a:ext cx="2491740" cy="1325880"/>
            <a:chOff x="0" y="0"/>
            <a:chExt cx="3322320" cy="1767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322320" cy="1767840"/>
            </a:xfrm>
            <a:custGeom>
              <a:avLst/>
              <a:gdLst/>
              <a:ahLst/>
              <a:cxnLst/>
              <a:rect r="r" b="b" t="t" l="l"/>
              <a:pathLst>
                <a:path h="1767840" w="332232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3192018" y="0"/>
                  </a:lnTo>
                  <a:cubicBezTo>
                    <a:pt x="3263900" y="0"/>
                    <a:pt x="3322320" y="58293"/>
                    <a:pt x="3322320" y="130302"/>
                  </a:cubicBezTo>
                  <a:lnTo>
                    <a:pt x="3322320" y="1637538"/>
                  </a:lnTo>
                  <a:cubicBezTo>
                    <a:pt x="3322320" y="1709420"/>
                    <a:pt x="3264027" y="1767840"/>
                    <a:pt x="319201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FFFBEB"/>
            </a:solidFill>
            <a:ln w="22860" cap="sq">
              <a:solidFill>
                <a:srgbClr val="FDE68A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4758416" y="3593592"/>
            <a:ext cx="2249424" cy="1110996"/>
            <a:chOff x="0" y="0"/>
            <a:chExt cx="2999232" cy="14813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99232" cy="1481328"/>
            </a:xfrm>
            <a:custGeom>
              <a:avLst/>
              <a:gdLst/>
              <a:ahLst/>
              <a:cxnLst/>
              <a:rect r="r" b="b" t="t" l="l"/>
              <a:pathLst>
                <a:path h="1481328" w="2999232">
                  <a:moveTo>
                    <a:pt x="0" y="0"/>
                  </a:moveTo>
                  <a:lnTo>
                    <a:pt x="2999232" y="0"/>
                  </a:lnTo>
                  <a:lnTo>
                    <a:pt x="299923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69" t="0" r="-1336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99923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D9770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Conector CRM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D9770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/ API externa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85647" y="5679376"/>
            <a:ext cx="4114800" cy="411480"/>
            <a:chOff x="0" y="0"/>
            <a:chExt cx="54864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Modelo de datos inicial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76122" y="6355652"/>
            <a:ext cx="3539490" cy="869442"/>
            <a:chOff x="0" y="0"/>
            <a:chExt cx="4719320" cy="11592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193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1932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25848" y="0"/>
                  </a:lnTo>
                  <a:cubicBezTo>
                    <a:pt x="4677537" y="0"/>
                    <a:pt x="4719320" y="41910"/>
                    <a:pt x="4719320" y="93472"/>
                  </a:cubicBezTo>
                  <a:lnTo>
                    <a:pt x="4719320" y="1065784"/>
                  </a:lnTo>
                  <a:cubicBezTo>
                    <a:pt x="4719320" y="1117473"/>
                    <a:pt x="4677410" y="1159256"/>
                    <a:pt x="462584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76122" y="6355652"/>
            <a:ext cx="115062" cy="869442"/>
            <a:chOff x="0" y="0"/>
            <a:chExt cx="153416" cy="11592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18819" y="6529768"/>
            <a:ext cx="3177540" cy="438912"/>
            <a:chOff x="0" y="0"/>
            <a:chExt cx="4236720" cy="5852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23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63" r="0" b="-9106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2367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Usuario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702302" y="6355652"/>
            <a:ext cx="3539490" cy="869442"/>
            <a:chOff x="0" y="0"/>
            <a:chExt cx="4719320" cy="11592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7193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1932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25848" y="0"/>
                  </a:lnTo>
                  <a:cubicBezTo>
                    <a:pt x="4677537" y="0"/>
                    <a:pt x="4719320" y="41910"/>
                    <a:pt x="4719320" y="93472"/>
                  </a:cubicBezTo>
                  <a:lnTo>
                    <a:pt x="4719320" y="1065784"/>
                  </a:lnTo>
                  <a:cubicBezTo>
                    <a:pt x="4719320" y="1117473"/>
                    <a:pt x="4677410" y="1159256"/>
                    <a:pt x="462584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4702302" y="6355652"/>
            <a:ext cx="115062" cy="869442"/>
            <a:chOff x="0" y="0"/>
            <a:chExt cx="153416" cy="11592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4944999" y="6529768"/>
            <a:ext cx="3177540" cy="438912"/>
            <a:chOff x="0" y="0"/>
            <a:chExt cx="4236720" cy="5852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23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63" r="0" b="-9106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42367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Lead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428482" y="6355652"/>
            <a:ext cx="3539490" cy="869442"/>
            <a:chOff x="0" y="0"/>
            <a:chExt cx="4719320" cy="11592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7193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1932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25848" y="0"/>
                  </a:lnTo>
                  <a:cubicBezTo>
                    <a:pt x="4677537" y="0"/>
                    <a:pt x="4719320" y="41910"/>
                    <a:pt x="4719320" y="93472"/>
                  </a:cubicBezTo>
                  <a:lnTo>
                    <a:pt x="4719320" y="1065784"/>
                  </a:lnTo>
                  <a:cubicBezTo>
                    <a:pt x="4719320" y="1117473"/>
                    <a:pt x="4677410" y="1159256"/>
                    <a:pt x="462584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8428482" y="6355652"/>
            <a:ext cx="115062" cy="869442"/>
            <a:chOff x="0" y="0"/>
            <a:chExt cx="153416" cy="11592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671179" y="6529768"/>
            <a:ext cx="3177540" cy="438912"/>
            <a:chOff x="0" y="0"/>
            <a:chExt cx="4236720" cy="5852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23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63" r="0" b="-9106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42367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Propiedad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76122" y="7439216"/>
            <a:ext cx="3539490" cy="869442"/>
            <a:chOff x="0" y="0"/>
            <a:chExt cx="4719320" cy="11592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193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1932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25848" y="0"/>
                  </a:lnTo>
                  <a:cubicBezTo>
                    <a:pt x="4677537" y="0"/>
                    <a:pt x="4719320" y="41910"/>
                    <a:pt x="4719320" y="93472"/>
                  </a:cubicBezTo>
                  <a:lnTo>
                    <a:pt x="4719320" y="1065784"/>
                  </a:lnTo>
                  <a:cubicBezTo>
                    <a:pt x="4719320" y="1117473"/>
                    <a:pt x="4677410" y="1159256"/>
                    <a:pt x="462584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976122" y="7439216"/>
            <a:ext cx="115062" cy="869442"/>
            <a:chOff x="0" y="0"/>
            <a:chExt cx="153416" cy="115925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218819" y="7613332"/>
            <a:ext cx="3177540" cy="438912"/>
            <a:chOff x="0" y="0"/>
            <a:chExt cx="4236720" cy="58521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23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63" r="0" b="-9106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42367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Interacción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4702302" y="7439216"/>
            <a:ext cx="3539490" cy="869442"/>
            <a:chOff x="0" y="0"/>
            <a:chExt cx="4719320" cy="11592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7193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1932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25848" y="0"/>
                  </a:lnTo>
                  <a:cubicBezTo>
                    <a:pt x="4677537" y="0"/>
                    <a:pt x="4719320" y="41910"/>
                    <a:pt x="4719320" y="93472"/>
                  </a:cubicBezTo>
                  <a:lnTo>
                    <a:pt x="4719320" y="1065784"/>
                  </a:lnTo>
                  <a:cubicBezTo>
                    <a:pt x="4719320" y="1117473"/>
                    <a:pt x="4677410" y="1159256"/>
                    <a:pt x="462584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4702302" y="7439216"/>
            <a:ext cx="115062" cy="869442"/>
            <a:chOff x="0" y="0"/>
            <a:chExt cx="153416" cy="115925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4944999" y="7613332"/>
            <a:ext cx="3177540" cy="438912"/>
            <a:chOff x="0" y="0"/>
            <a:chExt cx="4236720" cy="58521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23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63" r="0" b="-9106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42367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Documento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428482" y="7439216"/>
            <a:ext cx="3539490" cy="869442"/>
            <a:chOff x="0" y="0"/>
            <a:chExt cx="4719320" cy="115925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7193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1932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25848" y="0"/>
                  </a:lnTo>
                  <a:cubicBezTo>
                    <a:pt x="4677537" y="0"/>
                    <a:pt x="4719320" y="41910"/>
                    <a:pt x="4719320" y="93472"/>
                  </a:cubicBezTo>
                  <a:lnTo>
                    <a:pt x="4719320" y="1065784"/>
                  </a:lnTo>
                  <a:cubicBezTo>
                    <a:pt x="4719320" y="1117473"/>
                    <a:pt x="4677410" y="1159256"/>
                    <a:pt x="462584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8428482" y="7439216"/>
            <a:ext cx="115062" cy="869442"/>
            <a:chOff x="0" y="0"/>
            <a:chExt cx="153416" cy="115925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8671179" y="7613332"/>
            <a:ext cx="3177540" cy="438912"/>
            <a:chOff x="0" y="0"/>
            <a:chExt cx="4236720" cy="58521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23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63" r="0" b="-91063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42367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AnálisisIA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76122" y="8522780"/>
            <a:ext cx="3539490" cy="869442"/>
            <a:chOff x="0" y="0"/>
            <a:chExt cx="4719320" cy="115925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7193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1932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25848" y="0"/>
                  </a:lnTo>
                  <a:cubicBezTo>
                    <a:pt x="4677537" y="0"/>
                    <a:pt x="4719320" y="41910"/>
                    <a:pt x="4719320" y="93472"/>
                  </a:cubicBezTo>
                  <a:lnTo>
                    <a:pt x="4719320" y="1065784"/>
                  </a:lnTo>
                  <a:cubicBezTo>
                    <a:pt x="4719320" y="1117473"/>
                    <a:pt x="4677410" y="1159256"/>
                    <a:pt x="462584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976122" y="8522780"/>
            <a:ext cx="115062" cy="869442"/>
            <a:chOff x="0" y="0"/>
            <a:chExt cx="153416" cy="115925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18819" y="8696896"/>
            <a:ext cx="3177540" cy="438912"/>
            <a:chOff x="0" y="0"/>
            <a:chExt cx="4236720" cy="5852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23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63" r="0" b="-9106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42367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Tarea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4702302" y="8522780"/>
            <a:ext cx="3539490" cy="869442"/>
            <a:chOff x="0" y="0"/>
            <a:chExt cx="4719320" cy="115925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7193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1932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25848" y="0"/>
                  </a:lnTo>
                  <a:cubicBezTo>
                    <a:pt x="4677537" y="0"/>
                    <a:pt x="4719320" y="41910"/>
                    <a:pt x="4719320" y="93472"/>
                  </a:cubicBezTo>
                  <a:lnTo>
                    <a:pt x="4719320" y="1065784"/>
                  </a:lnTo>
                  <a:cubicBezTo>
                    <a:pt x="4719320" y="1117473"/>
                    <a:pt x="4677410" y="1159256"/>
                    <a:pt x="462584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4702302" y="8522780"/>
            <a:ext cx="115062" cy="869442"/>
            <a:chOff x="0" y="0"/>
            <a:chExt cx="153416" cy="115925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4944999" y="8696896"/>
            <a:ext cx="3177540" cy="438912"/>
            <a:chOff x="0" y="0"/>
            <a:chExt cx="4236720" cy="58521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23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63" r="0" b="-91063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42367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Auditoría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403455" y="6135243"/>
            <a:ext cx="4723638" cy="2419350"/>
            <a:chOff x="0" y="0"/>
            <a:chExt cx="6298184" cy="32258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98184" cy="3225800"/>
            </a:xfrm>
            <a:custGeom>
              <a:avLst/>
              <a:gdLst/>
              <a:ahLst/>
              <a:cxnLst/>
              <a:rect r="r" b="b" t="t" l="l"/>
              <a:pathLst>
                <a:path h="3225800" w="6298184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169152" y="0"/>
                  </a:lnTo>
                  <a:cubicBezTo>
                    <a:pt x="6240399" y="0"/>
                    <a:pt x="6298184" y="57785"/>
                    <a:pt x="6298184" y="129032"/>
                  </a:cubicBezTo>
                  <a:lnTo>
                    <a:pt x="6298184" y="3096768"/>
                  </a:lnTo>
                  <a:cubicBezTo>
                    <a:pt x="6298184" y="3168015"/>
                    <a:pt x="6240399" y="3225800"/>
                    <a:pt x="6169152" y="3225800"/>
                  </a:cubicBezTo>
                  <a:lnTo>
                    <a:pt x="129032" y="3225800"/>
                  </a:lnTo>
                  <a:cubicBezTo>
                    <a:pt x="57785" y="3225800"/>
                    <a:pt x="0" y="3168015"/>
                    <a:pt x="0" y="3096768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824460" y="6556248"/>
            <a:ext cx="3429000" cy="384048"/>
            <a:chOff x="0" y="0"/>
            <a:chExt cx="4572000" cy="51206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572000" cy="512064"/>
            </a:xfrm>
            <a:custGeom>
              <a:avLst/>
              <a:gdLst/>
              <a:ahLst/>
              <a:cxnLst/>
              <a:rect r="r" b="b" t="t" l="l"/>
              <a:pathLst>
                <a:path h="51206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45720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D4E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Resultado esperado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2824460" y="7104888"/>
            <a:ext cx="3771900" cy="987552"/>
            <a:chOff x="0" y="0"/>
            <a:chExt cx="5029200" cy="131673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029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22" r="0" b="-2442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50292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Un ejecutivo ve qué lead priorizar, por qué, qué documentos faltan y qué acción conviene realizar a continuación.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3642"/>
            <a:chOff x="0" y="0"/>
            <a:chExt cx="24408790" cy="24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710928"/>
            <a:ext cx="7543800" cy="246888"/>
            <a:chOff x="0" y="0"/>
            <a:chExt cx="100584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329184"/>
            </a:xfrm>
            <a:custGeom>
              <a:avLst/>
              <a:gdLst/>
              <a:ahLst/>
              <a:cxnLst/>
              <a:rect r="r" b="b" t="t" l="l"/>
              <a:pathLst>
                <a:path h="32918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376" r="0" b="-54537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0584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CAPSTONE · PTY4614-004D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658368"/>
            <a:ext cx="4526280" cy="315468"/>
            <a:chOff x="0" y="0"/>
            <a:chExt cx="6035040" cy="4206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35040" cy="420624"/>
            </a:xfrm>
            <a:custGeom>
              <a:avLst/>
              <a:gdLst/>
              <a:ahLst/>
              <a:cxnLst/>
              <a:rect r="r" b="b" t="t" l="l"/>
              <a:pathLst>
                <a:path h="42062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567" r="0" b="-229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03504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64">
                  <a:solidFill>
                    <a:srgbClr val="1D4E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Tercera alternativa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1069848"/>
            <a:ext cx="16322040" cy="850392"/>
            <a:chOff x="0" y="0"/>
            <a:chExt cx="2176272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987" r="0" b="-323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176272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 de escritorio para gestión de servicios técnicos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1540" y="1961388"/>
            <a:ext cx="16184880" cy="576072"/>
            <a:chOff x="0" y="0"/>
            <a:chExt cx="2157984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9839" cy="768096"/>
            </a:xfrm>
            <a:custGeom>
              <a:avLst/>
              <a:gdLst/>
              <a:ahLst/>
              <a:cxnLst/>
              <a:rect r="r" b="b" t="t" l="l"/>
              <a:pathLst>
                <a:path h="76809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436" r="0" b="-49743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5798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Aplicación offline-first para talleres o empresas técnicas: clientes, equipos, órdenes de trabajo y repuestos.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2015" y="2733675"/>
            <a:ext cx="5231130" cy="5121402"/>
            <a:chOff x="0" y="0"/>
            <a:chExt cx="6974840" cy="68285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74840" cy="6828536"/>
            </a:xfrm>
            <a:custGeom>
              <a:avLst/>
              <a:gdLst/>
              <a:ahLst/>
              <a:cxnLst/>
              <a:rect r="r" b="b" t="t" l="l"/>
              <a:pathLst>
                <a:path h="6828536" w="69748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7901" y="0"/>
                  </a:lnTo>
                  <a:cubicBezTo>
                    <a:pt x="6909054" y="0"/>
                    <a:pt x="6974840" y="65786"/>
                    <a:pt x="6974840" y="146939"/>
                  </a:cubicBezTo>
                  <a:lnTo>
                    <a:pt x="6974840" y="6681597"/>
                  </a:lnTo>
                  <a:cubicBezTo>
                    <a:pt x="6974840" y="6762750"/>
                    <a:pt x="6909054" y="6828536"/>
                    <a:pt x="6827901" y="6828536"/>
                  </a:cubicBezTo>
                  <a:lnTo>
                    <a:pt x="146939" y="6828536"/>
                  </a:lnTo>
                  <a:cubicBezTo>
                    <a:pt x="65786" y="6828536"/>
                    <a:pt x="0" y="6762750"/>
                    <a:pt x="0" y="66815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83767" y="3035427"/>
            <a:ext cx="677418" cy="677418"/>
            <a:chOff x="0" y="0"/>
            <a:chExt cx="903224" cy="9032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059669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93292" y="3265966"/>
            <a:ext cx="658368" cy="233172"/>
            <a:chOff x="0" y="0"/>
            <a:chExt cx="877824" cy="3108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" cy="310896"/>
            </a:xfrm>
            <a:custGeom>
              <a:avLst/>
              <a:gdLst/>
              <a:ahLst/>
              <a:cxnLst/>
              <a:rect r="r" b="b" t="t" l="l"/>
              <a:pathLst>
                <a:path h="310896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6" r="0" b="-50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877824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24253" y="3168396"/>
            <a:ext cx="3771900" cy="466344"/>
            <a:chOff x="0" y="0"/>
            <a:chExt cx="5029200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29200" cy="621792"/>
            </a:xfrm>
            <a:custGeom>
              <a:avLst/>
              <a:gdLst/>
              <a:ahLst/>
              <a:cxnLst/>
              <a:rect r="r" b="b" t="t" l="l"/>
              <a:pathLst>
                <a:path h="621792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99" r="0" b="-10759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5029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Objetivos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48408" y="3973208"/>
            <a:ext cx="4498343" cy="379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Digitalizar órdenes de trabajo y seguimiento de equipos.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Controlar repuestos utilizados y estado de cada servicio.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Evitar pérdida de información en papel o planillas.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Funcionar incluso sin conexión a Internet.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272403" y="2733675"/>
            <a:ext cx="5231130" cy="5121402"/>
            <a:chOff x="0" y="0"/>
            <a:chExt cx="6974840" cy="68285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74840" cy="6828536"/>
            </a:xfrm>
            <a:custGeom>
              <a:avLst/>
              <a:gdLst/>
              <a:ahLst/>
              <a:cxnLst/>
              <a:rect r="r" b="b" t="t" l="l"/>
              <a:pathLst>
                <a:path h="6828536" w="69748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7901" y="0"/>
                  </a:lnTo>
                  <a:cubicBezTo>
                    <a:pt x="6909054" y="0"/>
                    <a:pt x="6974840" y="65786"/>
                    <a:pt x="6974840" y="146939"/>
                  </a:cubicBezTo>
                  <a:lnTo>
                    <a:pt x="6974840" y="6681597"/>
                  </a:lnTo>
                  <a:cubicBezTo>
                    <a:pt x="6974840" y="6762750"/>
                    <a:pt x="6909054" y="6828536"/>
                    <a:pt x="6827901" y="6828536"/>
                  </a:cubicBezTo>
                  <a:lnTo>
                    <a:pt x="146939" y="6828536"/>
                  </a:lnTo>
                  <a:cubicBezTo>
                    <a:pt x="65786" y="6828536"/>
                    <a:pt x="0" y="6762750"/>
                    <a:pt x="0" y="66815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574155" y="3035427"/>
            <a:ext cx="677418" cy="677418"/>
            <a:chOff x="0" y="0"/>
            <a:chExt cx="903224" cy="9032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574155" y="3265966"/>
            <a:ext cx="658368" cy="233172"/>
            <a:chOff x="0" y="0"/>
            <a:chExt cx="877824" cy="3108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7824" cy="310896"/>
            </a:xfrm>
            <a:custGeom>
              <a:avLst/>
              <a:gdLst/>
              <a:ahLst/>
              <a:cxnLst/>
              <a:rect r="r" b="b" t="t" l="l"/>
              <a:pathLst>
                <a:path h="310896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6" r="0" b="-501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77824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413498" y="3168396"/>
            <a:ext cx="3771900" cy="466344"/>
            <a:chOff x="0" y="0"/>
            <a:chExt cx="5029200" cy="6217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29200" cy="621792"/>
            </a:xfrm>
            <a:custGeom>
              <a:avLst/>
              <a:gdLst/>
              <a:ahLst/>
              <a:cxnLst/>
              <a:rect r="r" b="b" t="t" l="l"/>
              <a:pathLst>
                <a:path h="621792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99" r="0" b="-10759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029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Alcance MVP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680197" y="3973208"/>
            <a:ext cx="4498343" cy="379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Clientes y equipos asociados.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Órdenes con diagnóstico, estado y técnico responsable.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Repuestos y consumo por orden.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Historial de cambios y búsqueda rápida.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Comprobante/PDF y respaldo de base local.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662791" y="2733675"/>
            <a:ext cx="5738622" cy="5121402"/>
            <a:chOff x="0" y="0"/>
            <a:chExt cx="7651496" cy="68285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51496" cy="6828536"/>
            </a:xfrm>
            <a:custGeom>
              <a:avLst/>
              <a:gdLst/>
              <a:ahLst/>
              <a:cxnLst/>
              <a:rect r="r" b="b" t="t" l="l"/>
              <a:pathLst>
                <a:path h="6828536" w="765149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7504557" y="0"/>
                  </a:lnTo>
                  <a:cubicBezTo>
                    <a:pt x="7585710" y="0"/>
                    <a:pt x="7651496" y="65786"/>
                    <a:pt x="7651496" y="146939"/>
                  </a:cubicBezTo>
                  <a:lnTo>
                    <a:pt x="7651496" y="6681597"/>
                  </a:lnTo>
                  <a:cubicBezTo>
                    <a:pt x="7651496" y="6762750"/>
                    <a:pt x="7585710" y="6828536"/>
                    <a:pt x="7504557" y="6828536"/>
                  </a:cubicBezTo>
                  <a:lnTo>
                    <a:pt x="146939" y="6828536"/>
                  </a:lnTo>
                  <a:cubicBezTo>
                    <a:pt x="65786" y="6828536"/>
                    <a:pt x="0" y="6762750"/>
                    <a:pt x="0" y="66815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964543" y="3035427"/>
            <a:ext cx="677418" cy="677418"/>
            <a:chOff x="0" y="0"/>
            <a:chExt cx="903224" cy="9032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D97706"/>
            </a:solidFill>
            <a:ln w="1905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974068" y="3257550"/>
            <a:ext cx="658368" cy="250003"/>
            <a:chOff x="0" y="0"/>
            <a:chExt cx="877824" cy="3333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77824" cy="333338"/>
            </a:xfrm>
            <a:custGeom>
              <a:avLst/>
              <a:gdLst/>
              <a:ahLst/>
              <a:cxnLst/>
              <a:rect r="r" b="b" t="t" l="l"/>
              <a:pathLst>
                <a:path h="33333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333338"/>
                  </a:lnTo>
                  <a:lnTo>
                    <a:pt x="0" y="3333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8" r="0" b="205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877824" cy="34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813411" y="3168396"/>
            <a:ext cx="4279392" cy="466344"/>
            <a:chOff x="0" y="0"/>
            <a:chExt cx="5705856" cy="6217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05856" cy="621792"/>
            </a:xfrm>
            <a:custGeom>
              <a:avLst/>
              <a:gdLst/>
              <a:ahLst/>
              <a:cxnLst/>
              <a:rect r="r" b="b" t="t" l="l"/>
              <a:pathLst>
                <a:path h="621792" w="5705856">
                  <a:moveTo>
                    <a:pt x="0" y="0"/>
                  </a:moveTo>
                  <a:lnTo>
                    <a:pt x="5705856" y="0"/>
                  </a:lnTo>
                  <a:lnTo>
                    <a:pt x="5705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803" r="0" b="-12880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705856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Fuera del MVP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029184" y="3973208"/>
            <a:ext cx="5005835" cy="379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Contabilidad y remuneraciones.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Sistema completo multi-sucursal en la nube.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E-commerce de repuestos.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Integración con medios de pago.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066841" y="8055102"/>
            <a:ext cx="3971437" cy="485394"/>
            <a:chOff x="0" y="0"/>
            <a:chExt cx="5295250" cy="6471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95250" cy="647192"/>
            </a:xfrm>
            <a:custGeom>
              <a:avLst/>
              <a:gdLst/>
              <a:ahLst/>
              <a:cxnLst/>
              <a:rect r="r" b="b" t="t" l="l"/>
              <a:pathLst>
                <a:path h="647192" w="5295250">
                  <a:moveTo>
                    <a:pt x="0" y="152273"/>
                  </a:moveTo>
                  <a:cubicBezTo>
                    <a:pt x="0" y="68199"/>
                    <a:pt x="38995" y="0"/>
                    <a:pt x="87068" y="0"/>
                  </a:cubicBezTo>
                  <a:lnTo>
                    <a:pt x="5208182" y="0"/>
                  </a:lnTo>
                  <a:cubicBezTo>
                    <a:pt x="5256254" y="0"/>
                    <a:pt x="5295250" y="68199"/>
                    <a:pt x="5295250" y="152273"/>
                  </a:cubicBezTo>
                  <a:lnTo>
                    <a:pt x="5295250" y="494919"/>
                  </a:lnTo>
                  <a:cubicBezTo>
                    <a:pt x="5295250" y="578993"/>
                    <a:pt x="5256254" y="647192"/>
                    <a:pt x="5208182" y="647192"/>
                  </a:cubicBezTo>
                  <a:lnTo>
                    <a:pt x="87068" y="647192"/>
                  </a:lnTo>
                  <a:cubicBezTo>
                    <a:pt x="38995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5698998" y="8174355"/>
            <a:ext cx="6707124" cy="246888"/>
            <a:chOff x="0" y="0"/>
            <a:chExt cx="8942832" cy="3291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942832" cy="329184"/>
            </a:xfrm>
            <a:custGeom>
              <a:avLst/>
              <a:gdLst/>
              <a:ahLst/>
              <a:cxnLst/>
              <a:rect r="r" b="b" t="t" l="l"/>
              <a:pathLst>
                <a:path h="329184" w="8942832">
                  <a:moveTo>
                    <a:pt x="0" y="0"/>
                  </a:moveTo>
                  <a:lnTo>
                    <a:pt x="8942832" y="0"/>
                  </a:lnTo>
                  <a:lnTo>
                    <a:pt x="894283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43" r="0" b="-47934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8942832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Metodología: Scrum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3642"/>
            <a:chOff x="0" y="0"/>
            <a:chExt cx="24408790" cy="24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710928"/>
            <a:ext cx="7543800" cy="246888"/>
            <a:chOff x="0" y="0"/>
            <a:chExt cx="100584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329184"/>
            </a:xfrm>
            <a:custGeom>
              <a:avLst/>
              <a:gdLst/>
              <a:ahLst/>
              <a:cxnLst/>
              <a:rect r="r" b="b" t="t" l="l"/>
              <a:pathLst>
                <a:path h="32918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376" r="0" b="-54537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0584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CAPSTONE · PTY4614-004D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1069848"/>
            <a:ext cx="16322040" cy="850392"/>
            <a:chOff x="0" y="0"/>
            <a:chExt cx="21762720" cy="1133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62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987" r="0" b="-3239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76272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Arquitectura y modelo de datos inicial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1961388"/>
            <a:ext cx="16184880" cy="576072"/>
            <a:chOff x="0" y="0"/>
            <a:chExt cx="21579840" cy="7680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79839" cy="768096"/>
            </a:xfrm>
            <a:custGeom>
              <a:avLst/>
              <a:gdLst/>
              <a:ahLst/>
              <a:cxnLst/>
              <a:rect r="r" b="b" t="t" l="l"/>
              <a:pathLst>
                <a:path h="76809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436" r="0" b="-4974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5798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Aplicación de escritorio con almacenamiento local y posibilidad de sincronización futura.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2688" y="2674620"/>
            <a:ext cx="5486400" cy="411480"/>
            <a:chOff x="0" y="0"/>
            <a:chExt cx="73152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315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Arquitectura de alto nivel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8418" y="3445002"/>
            <a:ext cx="2148840" cy="1325880"/>
            <a:chOff x="0" y="0"/>
            <a:chExt cx="2865120" cy="1767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65120" cy="1767840"/>
            </a:xfrm>
            <a:custGeom>
              <a:avLst/>
              <a:gdLst/>
              <a:ahLst/>
              <a:cxnLst/>
              <a:rect r="r" b="b" t="t" l="l"/>
              <a:pathLst>
                <a:path h="1767840" w="286512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2734818" y="0"/>
                  </a:lnTo>
                  <a:cubicBezTo>
                    <a:pt x="2806700" y="0"/>
                    <a:pt x="2865120" y="58293"/>
                    <a:pt x="2865120" y="130302"/>
                  </a:cubicBezTo>
                  <a:lnTo>
                    <a:pt x="2865120" y="1637538"/>
                  </a:lnTo>
                  <a:cubicBezTo>
                    <a:pt x="2865120" y="1709420"/>
                    <a:pt x="2806827" y="1767840"/>
                    <a:pt x="273481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ECFDF5"/>
            </a:solidFill>
            <a:ln w="22860" cap="sq">
              <a:solidFill>
                <a:srgbClr val="A7F3D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79576" y="3552444"/>
            <a:ext cx="1906524" cy="1110996"/>
            <a:chOff x="0" y="0"/>
            <a:chExt cx="2542032" cy="1481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2032" cy="1481328"/>
            </a:xfrm>
            <a:custGeom>
              <a:avLst/>
              <a:gdLst/>
              <a:ahLst/>
              <a:cxnLst/>
              <a:rect r="r" b="b" t="t" l="l"/>
              <a:pathLst>
                <a:path h="1481328" w="2542032">
                  <a:moveTo>
                    <a:pt x="0" y="0"/>
                  </a:moveTo>
                  <a:lnTo>
                    <a:pt x="2542032" y="0"/>
                  </a:lnTo>
                  <a:lnTo>
                    <a:pt x="254203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766" t="0" r="-2476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54203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596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Desktop UI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596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React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111960">
            <a:off x="3221488" y="4091559"/>
            <a:ext cx="936231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4158234" y="3445002"/>
            <a:ext cx="2423160" cy="1325880"/>
            <a:chOff x="0" y="0"/>
            <a:chExt cx="3230880" cy="1767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30880" cy="1767840"/>
            </a:xfrm>
            <a:custGeom>
              <a:avLst/>
              <a:gdLst/>
              <a:ahLst/>
              <a:cxnLst/>
              <a:rect r="r" b="b" t="t" l="l"/>
              <a:pathLst>
                <a:path h="1767840" w="323088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3100578" y="0"/>
                  </a:lnTo>
                  <a:cubicBezTo>
                    <a:pt x="3172460" y="0"/>
                    <a:pt x="3230880" y="58293"/>
                    <a:pt x="3230880" y="130302"/>
                  </a:cubicBezTo>
                  <a:lnTo>
                    <a:pt x="3230880" y="1637538"/>
                  </a:lnTo>
                  <a:cubicBezTo>
                    <a:pt x="3230880" y="1709420"/>
                    <a:pt x="3172587" y="1767840"/>
                    <a:pt x="310057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279392" y="3552444"/>
            <a:ext cx="2180844" cy="1110996"/>
            <a:chOff x="0" y="0"/>
            <a:chExt cx="2907792" cy="14813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07792" cy="1481328"/>
            </a:xfrm>
            <a:custGeom>
              <a:avLst/>
              <a:gdLst/>
              <a:ahLst/>
              <a:cxnLst/>
              <a:rect r="r" b="b" t="t" l="l"/>
              <a:pathLst>
                <a:path h="1481328" w="2907792">
                  <a:moveTo>
                    <a:pt x="0" y="0"/>
                  </a:moveTo>
                  <a:lnTo>
                    <a:pt x="2907792" y="0"/>
                  </a:lnTo>
                  <a:lnTo>
                    <a:pt x="290779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62" t="0" r="-1536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90779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Electron / Tauri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111960">
            <a:off x="6595624" y="4091559"/>
            <a:ext cx="936231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7532370" y="3445002"/>
            <a:ext cx="2766060" cy="1325880"/>
            <a:chOff x="0" y="0"/>
            <a:chExt cx="3688080" cy="1767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88080" cy="1767840"/>
            </a:xfrm>
            <a:custGeom>
              <a:avLst/>
              <a:gdLst/>
              <a:ahLst/>
              <a:cxnLst/>
              <a:rect r="r" b="b" t="t" l="l"/>
              <a:pathLst>
                <a:path h="1767840" w="368808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3557778" y="0"/>
                  </a:lnTo>
                  <a:cubicBezTo>
                    <a:pt x="3629660" y="0"/>
                    <a:pt x="3688080" y="58293"/>
                    <a:pt x="3688080" y="130302"/>
                  </a:cubicBezTo>
                  <a:lnTo>
                    <a:pt x="3688080" y="1637538"/>
                  </a:lnTo>
                  <a:cubicBezTo>
                    <a:pt x="3688080" y="1709420"/>
                    <a:pt x="3629787" y="1767840"/>
                    <a:pt x="355777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653528" y="3552444"/>
            <a:ext cx="2523744" cy="1110996"/>
            <a:chOff x="0" y="0"/>
            <a:chExt cx="3364992" cy="14813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64992" cy="1481328"/>
            </a:xfrm>
            <a:custGeom>
              <a:avLst/>
              <a:gdLst/>
              <a:ahLst/>
              <a:cxnLst/>
              <a:rect r="r" b="b" t="t" l="l"/>
              <a:pathLst>
                <a:path h="148132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81" t="0" r="-648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36499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Servicios locales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reglas de negocio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113580">
            <a:off x="10312660" y="4091559"/>
            <a:ext cx="922525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11235690" y="3445002"/>
            <a:ext cx="2011680" cy="1325880"/>
            <a:chOff x="0" y="0"/>
            <a:chExt cx="2682240" cy="1767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82240" cy="1767840"/>
            </a:xfrm>
            <a:custGeom>
              <a:avLst/>
              <a:gdLst/>
              <a:ahLst/>
              <a:cxnLst/>
              <a:rect r="r" b="b" t="t" l="l"/>
              <a:pathLst>
                <a:path h="1767840" w="268224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2551938" y="0"/>
                  </a:lnTo>
                  <a:cubicBezTo>
                    <a:pt x="2623820" y="0"/>
                    <a:pt x="2682240" y="58293"/>
                    <a:pt x="2682240" y="130302"/>
                  </a:cubicBezTo>
                  <a:lnTo>
                    <a:pt x="2682240" y="1637538"/>
                  </a:lnTo>
                  <a:cubicBezTo>
                    <a:pt x="2682240" y="1709420"/>
                    <a:pt x="2623947" y="1767840"/>
                    <a:pt x="255193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EFF6FF"/>
            </a:solidFill>
            <a:ln w="2286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356848" y="3552444"/>
            <a:ext cx="1769364" cy="1110996"/>
            <a:chOff x="0" y="0"/>
            <a:chExt cx="2359152" cy="14813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59152" cy="1481328"/>
            </a:xfrm>
            <a:custGeom>
              <a:avLst/>
              <a:gdLst/>
              <a:ahLst/>
              <a:cxnLst/>
              <a:rect r="r" b="b" t="t" l="l"/>
              <a:pathLst>
                <a:path h="1481328" w="2359152">
                  <a:moveTo>
                    <a:pt x="0" y="0"/>
                  </a:moveTo>
                  <a:lnTo>
                    <a:pt x="2359152" y="0"/>
                  </a:lnTo>
                  <a:lnTo>
                    <a:pt x="235915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562" t="0" r="-3056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35915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D4E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SQLite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110340">
            <a:off x="13261600" y="4091559"/>
            <a:ext cx="949938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0" id="40"/>
          <p:cNvGrpSpPr/>
          <p:nvPr/>
        </p:nvGrpSpPr>
        <p:grpSpPr>
          <a:xfrm rot="0">
            <a:off x="14225778" y="3445002"/>
            <a:ext cx="2697480" cy="1325880"/>
            <a:chOff x="0" y="0"/>
            <a:chExt cx="3596640" cy="1767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96640" cy="1767840"/>
            </a:xfrm>
            <a:custGeom>
              <a:avLst/>
              <a:gdLst/>
              <a:ahLst/>
              <a:cxnLst/>
              <a:rect r="r" b="b" t="t" l="l"/>
              <a:pathLst>
                <a:path h="1767840" w="3596640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3466338" y="0"/>
                  </a:lnTo>
                  <a:cubicBezTo>
                    <a:pt x="3538220" y="0"/>
                    <a:pt x="3596640" y="58293"/>
                    <a:pt x="3596640" y="130302"/>
                  </a:cubicBezTo>
                  <a:lnTo>
                    <a:pt x="3596640" y="1637538"/>
                  </a:lnTo>
                  <a:cubicBezTo>
                    <a:pt x="3596640" y="1709420"/>
                    <a:pt x="3538347" y="1767840"/>
                    <a:pt x="3466338" y="1767840"/>
                  </a:cubicBezTo>
                  <a:lnTo>
                    <a:pt x="130302" y="1767840"/>
                  </a:lnTo>
                  <a:cubicBezTo>
                    <a:pt x="58293" y="1767840"/>
                    <a:pt x="0" y="1709547"/>
                    <a:pt x="0" y="1637538"/>
                  </a:cubicBezTo>
                  <a:close/>
                </a:path>
              </a:pathLst>
            </a:custGeom>
            <a:solidFill>
              <a:srgbClr val="FFFBEB"/>
            </a:solidFill>
            <a:ln w="22860" cap="sq">
              <a:solidFill>
                <a:srgbClr val="FDE68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346936" y="3552444"/>
            <a:ext cx="2455164" cy="1110996"/>
            <a:chOff x="0" y="0"/>
            <a:chExt cx="3273552" cy="14813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73552" cy="1481328"/>
            </a:xfrm>
            <a:custGeom>
              <a:avLst/>
              <a:gdLst/>
              <a:ahLst/>
              <a:cxnLst/>
              <a:rect r="r" b="b" t="t" l="l"/>
              <a:pathLst>
                <a:path h="1481328" w="3273552">
                  <a:moveTo>
                    <a:pt x="0" y="0"/>
                  </a:moveTo>
                  <a:lnTo>
                    <a:pt x="3273552" y="0"/>
                  </a:lnTo>
                  <a:lnTo>
                    <a:pt x="3273552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59" t="0" r="-805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273552" cy="148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D9770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PDF / backup /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D9770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exportación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60323" y="5367147"/>
            <a:ext cx="5971794" cy="1911858"/>
            <a:chOff x="0" y="0"/>
            <a:chExt cx="7962392" cy="25491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62392" cy="2549144"/>
            </a:xfrm>
            <a:custGeom>
              <a:avLst/>
              <a:gdLst/>
              <a:ahLst/>
              <a:cxnLst/>
              <a:rect r="r" b="b" t="t" l="l"/>
              <a:pathLst>
                <a:path h="2549144" w="7962392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7833106" y="0"/>
                  </a:lnTo>
                  <a:cubicBezTo>
                    <a:pt x="7904480" y="0"/>
                    <a:pt x="7962392" y="57912"/>
                    <a:pt x="7962392" y="129286"/>
                  </a:cubicBezTo>
                  <a:lnTo>
                    <a:pt x="7962392" y="2419858"/>
                  </a:lnTo>
                  <a:cubicBezTo>
                    <a:pt x="7962392" y="2491232"/>
                    <a:pt x="7904480" y="2549144"/>
                    <a:pt x="7833106" y="2549144"/>
                  </a:cubicBezTo>
                  <a:lnTo>
                    <a:pt x="129286" y="2549144"/>
                  </a:lnTo>
                  <a:cubicBezTo>
                    <a:pt x="57912" y="2549144"/>
                    <a:pt x="0" y="2491232"/>
                    <a:pt x="0" y="241985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99032" y="5719572"/>
            <a:ext cx="2263140" cy="342900"/>
            <a:chOff x="0" y="0"/>
            <a:chExt cx="3017520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17520" cy="457200"/>
            </a:xfrm>
            <a:custGeom>
              <a:avLst/>
              <a:gdLst/>
              <a:ahLst/>
              <a:cxnLst/>
              <a:rect r="r" b="b" t="t" l="l"/>
              <a:pathLst>
                <a:path h="45720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0175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Ventaja técnica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99032" y="6076188"/>
            <a:ext cx="2990088" cy="987552"/>
            <a:chOff x="0" y="0"/>
            <a:chExt cx="3986784" cy="13167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86784" cy="1316736"/>
            </a:xfrm>
            <a:custGeom>
              <a:avLst/>
              <a:gdLst/>
              <a:ahLst/>
              <a:cxnLst/>
              <a:rect r="r" b="b" t="t" l="l"/>
              <a:pathLst>
                <a:path h="1316736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96" r="0" b="-899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986784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La operación principal no depende de Internet. La sincronización cloud queda como evolución futura.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571232" y="5486400"/>
            <a:ext cx="4114800" cy="411480"/>
            <a:chOff x="0" y="0"/>
            <a:chExt cx="54864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Modelo de datos inicial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561707" y="6135243"/>
            <a:ext cx="2990850" cy="869442"/>
            <a:chOff x="0" y="0"/>
            <a:chExt cx="3987800" cy="11592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878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98780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894328" y="0"/>
                  </a:lnTo>
                  <a:cubicBezTo>
                    <a:pt x="3945890" y="0"/>
                    <a:pt x="3987800" y="41910"/>
                    <a:pt x="3987800" y="93472"/>
                  </a:cubicBezTo>
                  <a:lnTo>
                    <a:pt x="3987800" y="1065784"/>
                  </a:lnTo>
                  <a:cubicBezTo>
                    <a:pt x="3987800" y="1117473"/>
                    <a:pt x="3945890" y="1159256"/>
                    <a:pt x="389432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561707" y="6135243"/>
            <a:ext cx="115062" cy="869442"/>
            <a:chOff x="0" y="0"/>
            <a:chExt cx="153416" cy="11592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59669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7804404" y="6309360"/>
            <a:ext cx="2628900" cy="438912"/>
            <a:chOff x="0" y="0"/>
            <a:chExt cx="3505200" cy="5852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05200" cy="585216"/>
            </a:xfrm>
            <a:custGeom>
              <a:avLst/>
              <a:gdLst/>
              <a:ahLst/>
              <a:cxnLst/>
              <a:rect r="r" b="b" t="t" l="l"/>
              <a:pathLst>
                <a:path h="585216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707" r="0" b="-6670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5052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Cliente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739247" y="6135243"/>
            <a:ext cx="2990850" cy="869442"/>
            <a:chOff x="0" y="0"/>
            <a:chExt cx="3987800" cy="11592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878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98780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894328" y="0"/>
                  </a:lnTo>
                  <a:cubicBezTo>
                    <a:pt x="3945890" y="0"/>
                    <a:pt x="3987800" y="41910"/>
                    <a:pt x="3987800" y="93472"/>
                  </a:cubicBezTo>
                  <a:lnTo>
                    <a:pt x="3987800" y="1065784"/>
                  </a:lnTo>
                  <a:cubicBezTo>
                    <a:pt x="3987800" y="1117473"/>
                    <a:pt x="3945890" y="1159256"/>
                    <a:pt x="389432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0739247" y="6135243"/>
            <a:ext cx="115062" cy="869442"/>
            <a:chOff x="0" y="0"/>
            <a:chExt cx="153416" cy="11592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59669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0981944" y="6309360"/>
            <a:ext cx="2628900" cy="438912"/>
            <a:chOff x="0" y="0"/>
            <a:chExt cx="3505200" cy="5852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505200" cy="585216"/>
            </a:xfrm>
            <a:custGeom>
              <a:avLst/>
              <a:gdLst/>
              <a:ahLst/>
              <a:cxnLst/>
              <a:rect r="r" b="b" t="t" l="l"/>
              <a:pathLst>
                <a:path h="585216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707" r="0" b="-6670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35052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Equipo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916787" y="6135243"/>
            <a:ext cx="2990850" cy="869442"/>
            <a:chOff x="0" y="0"/>
            <a:chExt cx="3987800" cy="115925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878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98780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894328" y="0"/>
                  </a:lnTo>
                  <a:cubicBezTo>
                    <a:pt x="3945890" y="0"/>
                    <a:pt x="3987800" y="41910"/>
                    <a:pt x="3987800" y="93472"/>
                  </a:cubicBezTo>
                  <a:lnTo>
                    <a:pt x="3987800" y="1065784"/>
                  </a:lnTo>
                  <a:cubicBezTo>
                    <a:pt x="3987800" y="1117473"/>
                    <a:pt x="3945890" y="1159256"/>
                    <a:pt x="389432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3916787" y="6135243"/>
            <a:ext cx="115062" cy="869442"/>
            <a:chOff x="0" y="0"/>
            <a:chExt cx="153416" cy="11592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59669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4159484" y="6309360"/>
            <a:ext cx="2628900" cy="438912"/>
            <a:chOff x="0" y="0"/>
            <a:chExt cx="3505200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505200" cy="585216"/>
            </a:xfrm>
            <a:custGeom>
              <a:avLst/>
              <a:gdLst/>
              <a:ahLst/>
              <a:cxnLst/>
              <a:rect r="r" b="b" t="t" l="l"/>
              <a:pathLst>
                <a:path h="585216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707" r="0" b="-6670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35052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OrdenTrabajo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561707" y="7218807"/>
            <a:ext cx="2990850" cy="869442"/>
            <a:chOff x="0" y="0"/>
            <a:chExt cx="3987800" cy="11592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9878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98780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894328" y="0"/>
                  </a:lnTo>
                  <a:cubicBezTo>
                    <a:pt x="3945890" y="0"/>
                    <a:pt x="3987800" y="41910"/>
                    <a:pt x="3987800" y="93472"/>
                  </a:cubicBezTo>
                  <a:lnTo>
                    <a:pt x="3987800" y="1065784"/>
                  </a:lnTo>
                  <a:cubicBezTo>
                    <a:pt x="3987800" y="1117473"/>
                    <a:pt x="3945890" y="1159256"/>
                    <a:pt x="389432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7561707" y="7218807"/>
            <a:ext cx="115062" cy="869442"/>
            <a:chOff x="0" y="0"/>
            <a:chExt cx="153416" cy="11592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59669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7804404" y="7392924"/>
            <a:ext cx="2628900" cy="438912"/>
            <a:chOff x="0" y="0"/>
            <a:chExt cx="3505200" cy="58521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505200" cy="585216"/>
            </a:xfrm>
            <a:custGeom>
              <a:avLst/>
              <a:gdLst/>
              <a:ahLst/>
              <a:cxnLst/>
              <a:rect r="r" b="b" t="t" l="l"/>
              <a:pathLst>
                <a:path h="585216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707" r="0" b="-6670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35052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Repuesto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739247" y="7218807"/>
            <a:ext cx="2990850" cy="869442"/>
            <a:chOff x="0" y="0"/>
            <a:chExt cx="3987800" cy="11592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9878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98780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894328" y="0"/>
                  </a:lnTo>
                  <a:cubicBezTo>
                    <a:pt x="3945890" y="0"/>
                    <a:pt x="3987800" y="41910"/>
                    <a:pt x="3987800" y="93472"/>
                  </a:cubicBezTo>
                  <a:lnTo>
                    <a:pt x="3987800" y="1065784"/>
                  </a:lnTo>
                  <a:cubicBezTo>
                    <a:pt x="3987800" y="1117473"/>
                    <a:pt x="3945890" y="1159256"/>
                    <a:pt x="389432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0739247" y="7218807"/>
            <a:ext cx="115062" cy="869442"/>
            <a:chOff x="0" y="0"/>
            <a:chExt cx="153416" cy="115925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59669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0981944" y="7392924"/>
            <a:ext cx="2628900" cy="438912"/>
            <a:chOff x="0" y="0"/>
            <a:chExt cx="3505200" cy="5852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505200" cy="585216"/>
            </a:xfrm>
            <a:custGeom>
              <a:avLst/>
              <a:gdLst/>
              <a:ahLst/>
              <a:cxnLst/>
              <a:rect r="r" b="b" t="t" l="l"/>
              <a:pathLst>
                <a:path h="585216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707" r="0" b="-6670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35052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ConsumoRepuesto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916787" y="7218807"/>
            <a:ext cx="2990850" cy="869442"/>
            <a:chOff x="0" y="0"/>
            <a:chExt cx="3987800" cy="115925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9878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98780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3894328" y="0"/>
                  </a:lnTo>
                  <a:cubicBezTo>
                    <a:pt x="3945890" y="0"/>
                    <a:pt x="3987800" y="41910"/>
                    <a:pt x="3987800" y="93472"/>
                  </a:cubicBezTo>
                  <a:lnTo>
                    <a:pt x="3987800" y="1065784"/>
                  </a:lnTo>
                  <a:cubicBezTo>
                    <a:pt x="3987800" y="1117473"/>
                    <a:pt x="3945890" y="1159256"/>
                    <a:pt x="389432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3916787" y="7218807"/>
            <a:ext cx="115062" cy="869442"/>
            <a:chOff x="0" y="0"/>
            <a:chExt cx="153416" cy="11592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59669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4159484" y="7392924"/>
            <a:ext cx="2628900" cy="438912"/>
            <a:chOff x="0" y="0"/>
            <a:chExt cx="3505200" cy="5852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05200" cy="585216"/>
            </a:xfrm>
            <a:custGeom>
              <a:avLst/>
              <a:gdLst/>
              <a:ahLst/>
              <a:cxnLst/>
              <a:rect r="r" b="b" t="t" l="l"/>
              <a:pathLst>
                <a:path h="585216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707" r="0" b="-6670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35052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HistorialEstado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3642"/>
            <a:chOff x="0" y="0"/>
            <a:chExt cx="24408790" cy="24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9710928"/>
            <a:ext cx="7543800" cy="246888"/>
            <a:chOff x="0" y="0"/>
            <a:chExt cx="1005840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329184"/>
            </a:xfrm>
            <a:custGeom>
              <a:avLst/>
              <a:gdLst/>
              <a:ahLst/>
              <a:cxnLst/>
              <a:rect r="r" b="b" t="t" l="l"/>
              <a:pathLst>
                <a:path h="32918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376" r="0" b="-54537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0584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CAPSTONE · PTY4614-004D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658368"/>
            <a:ext cx="4526280" cy="315468"/>
            <a:chOff x="0" y="0"/>
            <a:chExt cx="6035040" cy="4206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35040" cy="420624"/>
            </a:xfrm>
            <a:custGeom>
              <a:avLst/>
              <a:gdLst/>
              <a:ahLst/>
              <a:cxnLst/>
              <a:rect r="r" b="b" t="t" l="l"/>
              <a:pathLst>
                <a:path h="42062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567" r="0" b="-229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03504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64">
                  <a:solidFill>
                    <a:srgbClr val="1D4E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Tabla comparativa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1069848"/>
            <a:ext cx="16322040" cy="850392"/>
            <a:chOff x="0" y="0"/>
            <a:chExt cx="2176272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987" r="0" b="-323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176272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¿Qué alternativa elegir?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1540" y="1961388"/>
            <a:ext cx="16184880" cy="576072"/>
            <a:chOff x="0" y="0"/>
            <a:chExt cx="2157984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9839" cy="768096"/>
            </a:xfrm>
            <a:custGeom>
              <a:avLst/>
              <a:gdLst/>
              <a:ahLst/>
              <a:cxnLst/>
              <a:rect r="r" b="b" t="t" l="l"/>
              <a:pathLst>
                <a:path h="76809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436" r="0" b="-49743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5798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Las tres son viables pero apuntan a distintos niveles de innovación, riesgo y valor comercial.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8027" y="2843403"/>
            <a:ext cx="4476750" cy="814578"/>
            <a:chOff x="0" y="0"/>
            <a:chExt cx="5969000" cy="10861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69000" cy="1086104"/>
            </a:xfrm>
            <a:custGeom>
              <a:avLst/>
              <a:gdLst/>
              <a:ahLst/>
              <a:cxnLst/>
              <a:rect r="r" b="b" t="t" l="l"/>
              <a:pathLst>
                <a:path h="1086104" w="5969000">
                  <a:moveTo>
                    <a:pt x="0" y="93599"/>
                  </a:moveTo>
                  <a:cubicBezTo>
                    <a:pt x="0" y="41910"/>
                    <a:pt x="41910" y="0"/>
                    <a:pt x="93599" y="0"/>
                  </a:cubicBezTo>
                  <a:lnTo>
                    <a:pt x="5875401" y="0"/>
                  </a:lnTo>
                  <a:cubicBezTo>
                    <a:pt x="5927090" y="0"/>
                    <a:pt x="5969000" y="41910"/>
                    <a:pt x="5969000" y="93599"/>
                  </a:cubicBezTo>
                  <a:lnTo>
                    <a:pt x="5969000" y="992505"/>
                  </a:lnTo>
                  <a:cubicBezTo>
                    <a:pt x="5969000" y="1044194"/>
                    <a:pt x="5927090" y="1086104"/>
                    <a:pt x="5875401" y="1086104"/>
                  </a:cubicBezTo>
                  <a:lnTo>
                    <a:pt x="93599" y="1086104"/>
                  </a:lnTo>
                  <a:cubicBezTo>
                    <a:pt x="41910" y="1086104"/>
                    <a:pt x="0" y="1044194"/>
                    <a:pt x="0" y="992505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D7E0E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69848" y="3099816"/>
            <a:ext cx="4293108" cy="301752"/>
            <a:chOff x="0" y="0"/>
            <a:chExt cx="57241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4144" cy="402336"/>
            </a:xfrm>
            <a:custGeom>
              <a:avLst/>
              <a:gdLst/>
              <a:ahLst/>
              <a:cxnLst/>
              <a:rect r="r" b="b" t="t" l="l"/>
              <a:pathLst>
                <a:path h="402336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218" r="0" b="-22721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7241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Alternativa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435727" y="2843403"/>
            <a:ext cx="2378202" cy="814578"/>
            <a:chOff x="0" y="0"/>
            <a:chExt cx="3170936" cy="10861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70936" cy="1086104"/>
            </a:xfrm>
            <a:custGeom>
              <a:avLst/>
              <a:gdLst/>
              <a:ahLst/>
              <a:cxnLst/>
              <a:rect r="r" b="b" t="t" l="l"/>
              <a:pathLst>
                <a:path h="1086104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029970"/>
                  </a:lnTo>
                  <a:cubicBezTo>
                    <a:pt x="3170936" y="1060958"/>
                    <a:pt x="3145790" y="1086104"/>
                    <a:pt x="3114802" y="1086104"/>
                  </a:cubicBezTo>
                  <a:lnTo>
                    <a:pt x="56134" y="1086104"/>
                  </a:lnTo>
                  <a:cubicBezTo>
                    <a:pt x="25146" y="1086104"/>
                    <a:pt x="0" y="1060958"/>
                    <a:pt x="0" y="1029970"/>
                  </a:cubicBezTo>
                  <a:close/>
                </a:path>
              </a:pathLst>
            </a:custGeom>
            <a:solidFill>
              <a:srgbClr val="E8EEF8"/>
            </a:solidFill>
            <a:ln w="19050" cap="sq">
              <a:solidFill>
                <a:srgbClr val="D7E0EC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527548" y="3099816"/>
            <a:ext cx="2194560" cy="301752"/>
            <a:chOff x="0" y="0"/>
            <a:chExt cx="2926080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26080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9260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Factibilidad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94879" y="2843403"/>
            <a:ext cx="2378202" cy="814578"/>
            <a:chOff x="0" y="0"/>
            <a:chExt cx="3170936" cy="10861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70936" cy="1086104"/>
            </a:xfrm>
            <a:custGeom>
              <a:avLst/>
              <a:gdLst/>
              <a:ahLst/>
              <a:cxnLst/>
              <a:rect r="r" b="b" t="t" l="l"/>
              <a:pathLst>
                <a:path h="1086104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029970"/>
                  </a:lnTo>
                  <a:cubicBezTo>
                    <a:pt x="3170936" y="1060958"/>
                    <a:pt x="3145790" y="1086104"/>
                    <a:pt x="3114802" y="1086104"/>
                  </a:cubicBezTo>
                  <a:lnTo>
                    <a:pt x="56134" y="1086104"/>
                  </a:lnTo>
                  <a:cubicBezTo>
                    <a:pt x="25146" y="1086104"/>
                    <a:pt x="0" y="1060958"/>
                    <a:pt x="0" y="1029970"/>
                  </a:cubicBezTo>
                  <a:close/>
                </a:path>
              </a:pathLst>
            </a:custGeom>
            <a:solidFill>
              <a:srgbClr val="E8EEF8"/>
            </a:solidFill>
            <a:ln w="19050" cap="sq">
              <a:solidFill>
                <a:srgbClr val="D7E0E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886700" y="3099816"/>
            <a:ext cx="2194560" cy="301752"/>
            <a:chOff x="0" y="0"/>
            <a:chExt cx="2926080" cy="4023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9260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Innovación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154031" y="2843403"/>
            <a:ext cx="2378202" cy="814578"/>
            <a:chOff x="0" y="0"/>
            <a:chExt cx="3170936" cy="10861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70936" cy="1086104"/>
            </a:xfrm>
            <a:custGeom>
              <a:avLst/>
              <a:gdLst/>
              <a:ahLst/>
              <a:cxnLst/>
              <a:rect r="r" b="b" t="t" l="l"/>
              <a:pathLst>
                <a:path h="1086104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029970"/>
                  </a:lnTo>
                  <a:cubicBezTo>
                    <a:pt x="3170936" y="1060958"/>
                    <a:pt x="3145790" y="1086104"/>
                    <a:pt x="3114802" y="1086104"/>
                  </a:cubicBezTo>
                  <a:lnTo>
                    <a:pt x="56134" y="1086104"/>
                  </a:lnTo>
                  <a:cubicBezTo>
                    <a:pt x="25146" y="1086104"/>
                    <a:pt x="0" y="1060958"/>
                    <a:pt x="0" y="1029970"/>
                  </a:cubicBezTo>
                  <a:close/>
                </a:path>
              </a:pathLst>
            </a:custGeom>
            <a:solidFill>
              <a:srgbClr val="E8EEF8"/>
            </a:solidFill>
            <a:ln w="19050" cap="sq">
              <a:solidFill>
                <a:srgbClr val="D7E0E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249281" y="3099816"/>
            <a:ext cx="2194560" cy="301752"/>
            <a:chOff x="0" y="0"/>
            <a:chExt cx="2926080" cy="4023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0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9260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Valor negocio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513183" y="2843403"/>
            <a:ext cx="2378202" cy="814578"/>
            <a:chOff x="0" y="0"/>
            <a:chExt cx="3170936" cy="10861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70936" cy="1086104"/>
            </a:xfrm>
            <a:custGeom>
              <a:avLst/>
              <a:gdLst/>
              <a:ahLst/>
              <a:cxnLst/>
              <a:rect r="r" b="b" t="t" l="l"/>
              <a:pathLst>
                <a:path h="1086104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029970"/>
                  </a:lnTo>
                  <a:cubicBezTo>
                    <a:pt x="3170936" y="1060958"/>
                    <a:pt x="3145790" y="1086104"/>
                    <a:pt x="3114802" y="1086104"/>
                  </a:cubicBezTo>
                  <a:lnTo>
                    <a:pt x="56134" y="1086104"/>
                  </a:lnTo>
                  <a:cubicBezTo>
                    <a:pt x="25146" y="1086104"/>
                    <a:pt x="0" y="1060958"/>
                    <a:pt x="0" y="1029970"/>
                  </a:cubicBezTo>
                  <a:close/>
                </a:path>
              </a:pathLst>
            </a:custGeom>
            <a:solidFill>
              <a:srgbClr val="E8EEF8"/>
            </a:solidFill>
            <a:ln w="19050" cap="sq">
              <a:solidFill>
                <a:srgbClr val="D7E0E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605004" y="3099816"/>
            <a:ext cx="2194560" cy="301752"/>
            <a:chOff x="0" y="0"/>
            <a:chExt cx="2926080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0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9260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Riesgo técnico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8027" y="3776091"/>
            <a:ext cx="4476750" cy="869442"/>
            <a:chOff x="0" y="0"/>
            <a:chExt cx="5969000" cy="11592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690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969000">
                  <a:moveTo>
                    <a:pt x="0" y="74803"/>
                  </a:moveTo>
                  <a:cubicBezTo>
                    <a:pt x="0" y="33528"/>
                    <a:pt x="33528" y="0"/>
                    <a:pt x="74803" y="0"/>
                  </a:cubicBezTo>
                  <a:lnTo>
                    <a:pt x="5894197" y="0"/>
                  </a:lnTo>
                  <a:cubicBezTo>
                    <a:pt x="5935472" y="0"/>
                    <a:pt x="5969000" y="33528"/>
                    <a:pt x="5969000" y="74803"/>
                  </a:cubicBezTo>
                  <a:lnTo>
                    <a:pt x="5969000" y="1084453"/>
                  </a:lnTo>
                  <a:cubicBezTo>
                    <a:pt x="5969000" y="1125728"/>
                    <a:pt x="5935472" y="1159256"/>
                    <a:pt x="5894197" y="1159256"/>
                  </a:cubicBezTo>
                  <a:lnTo>
                    <a:pt x="74803" y="1159256"/>
                  </a:lnTo>
                  <a:cubicBezTo>
                    <a:pt x="33528" y="1159256"/>
                    <a:pt x="0" y="1125728"/>
                    <a:pt x="0" y="10844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78027" y="3776091"/>
            <a:ext cx="115062" cy="869442"/>
            <a:chOff x="0" y="0"/>
            <a:chExt cx="153416" cy="11592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D4ED8"/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34440" y="4053078"/>
            <a:ext cx="4073652" cy="315468"/>
            <a:chOff x="0" y="0"/>
            <a:chExt cx="5431536" cy="4206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31536" cy="420624"/>
            </a:xfrm>
            <a:custGeom>
              <a:avLst/>
              <a:gdLst/>
              <a:ahLst/>
              <a:cxnLst/>
              <a:rect r="r" b="b" t="t" l="l"/>
              <a:pathLst>
                <a:path h="420624" w="5431536">
                  <a:moveTo>
                    <a:pt x="0" y="0"/>
                  </a:moveTo>
                  <a:lnTo>
                    <a:pt x="5431536" y="0"/>
                  </a:lnTo>
                  <a:lnTo>
                    <a:pt x="5431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11" r="0" b="-2016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431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 · Inventario + cotizador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435727" y="3776091"/>
            <a:ext cx="2378202" cy="869442"/>
            <a:chOff x="0" y="0"/>
            <a:chExt cx="3170936" cy="11592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5445252" y="4005072"/>
            <a:ext cx="2359152" cy="315468"/>
            <a:chOff x="0" y="0"/>
            <a:chExt cx="3145536" cy="4206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5/5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794879" y="3776091"/>
            <a:ext cx="2378202" cy="869442"/>
            <a:chOff x="0" y="0"/>
            <a:chExt cx="3170936" cy="11592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7804404" y="4005072"/>
            <a:ext cx="2359152" cy="315468"/>
            <a:chOff x="0" y="0"/>
            <a:chExt cx="3145536" cy="4206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3/5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154031" y="3776091"/>
            <a:ext cx="2378202" cy="869442"/>
            <a:chOff x="0" y="0"/>
            <a:chExt cx="3170936" cy="11592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163556" y="4005072"/>
            <a:ext cx="2359152" cy="315468"/>
            <a:chOff x="0" y="0"/>
            <a:chExt cx="3145536" cy="4206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4/5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513183" y="3776091"/>
            <a:ext cx="2378202" cy="869442"/>
            <a:chOff x="0" y="0"/>
            <a:chExt cx="3170936" cy="11592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522708" y="4005072"/>
            <a:ext cx="2359152" cy="315468"/>
            <a:chOff x="0" y="0"/>
            <a:chExt cx="3145536" cy="4206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2/5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8027" y="4845939"/>
            <a:ext cx="4476750" cy="869442"/>
            <a:chOff x="0" y="0"/>
            <a:chExt cx="5969000" cy="11592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9690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969000">
                  <a:moveTo>
                    <a:pt x="0" y="74803"/>
                  </a:moveTo>
                  <a:cubicBezTo>
                    <a:pt x="0" y="33528"/>
                    <a:pt x="33528" y="0"/>
                    <a:pt x="74803" y="0"/>
                  </a:cubicBezTo>
                  <a:lnTo>
                    <a:pt x="5894197" y="0"/>
                  </a:lnTo>
                  <a:cubicBezTo>
                    <a:pt x="5935472" y="0"/>
                    <a:pt x="5969000" y="33528"/>
                    <a:pt x="5969000" y="74803"/>
                  </a:cubicBezTo>
                  <a:lnTo>
                    <a:pt x="5969000" y="1084453"/>
                  </a:lnTo>
                  <a:cubicBezTo>
                    <a:pt x="5969000" y="1125728"/>
                    <a:pt x="5935472" y="1159256"/>
                    <a:pt x="5894197" y="1159256"/>
                  </a:cubicBezTo>
                  <a:lnTo>
                    <a:pt x="74803" y="1159256"/>
                  </a:lnTo>
                  <a:cubicBezTo>
                    <a:pt x="33528" y="1159256"/>
                    <a:pt x="0" y="1125728"/>
                    <a:pt x="0" y="10844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78027" y="4845939"/>
            <a:ext cx="115062" cy="869442"/>
            <a:chOff x="0" y="0"/>
            <a:chExt cx="153416" cy="115925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891B2"/>
            </a:solidFill>
            <a:ln w="1905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234440" y="5122926"/>
            <a:ext cx="4073652" cy="315468"/>
            <a:chOff x="0" y="0"/>
            <a:chExt cx="5431536" cy="4206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431536" cy="420624"/>
            </a:xfrm>
            <a:custGeom>
              <a:avLst/>
              <a:gdLst/>
              <a:ahLst/>
              <a:cxnLst/>
              <a:rect r="r" b="b" t="t" l="l"/>
              <a:pathLst>
                <a:path h="420624" w="5431536">
                  <a:moveTo>
                    <a:pt x="0" y="0"/>
                  </a:moveTo>
                  <a:lnTo>
                    <a:pt x="5431536" y="0"/>
                  </a:lnTo>
                  <a:lnTo>
                    <a:pt x="5431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11" r="0" b="-20161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5431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 · Agente IA inmobiliario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435727" y="4845939"/>
            <a:ext cx="2378202" cy="869442"/>
            <a:chOff x="0" y="0"/>
            <a:chExt cx="3170936" cy="11592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5445252" y="5074920"/>
            <a:ext cx="2359152" cy="315468"/>
            <a:chOff x="0" y="0"/>
            <a:chExt cx="3145536" cy="4206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4/5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794879" y="4845939"/>
            <a:ext cx="2378202" cy="869442"/>
            <a:chOff x="0" y="0"/>
            <a:chExt cx="3170936" cy="11592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7804404" y="5074920"/>
            <a:ext cx="2359152" cy="315468"/>
            <a:chOff x="0" y="0"/>
            <a:chExt cx="3145536" cy="4206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5/5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154031" y="4845939"/>
            <a:ext cx="2378202" cy="869442"/>
            <a:chOff x="0" y="0"/>
            <a:chExt cx="3170936" cy="115925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0163556" y="5074920"/>
            <a:ext cx="2359152" cy="315468"/>
            <a:chOff x="0" y="0"/>
            <a:chExt cx="3145536" cy="42062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5/5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513183" y="4845939"/>
            <a:ext cx="2378202" cy="869442"/>
            <a:chOff x="0" y="0"/>
            <a:chExt cx="3170936" cy="115925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2522708" y="5074920"/>
            <a:ext cx="2359152" cy="315468"/>
            <a:chOff x="0" y="0"/>
            <a:chExt cx="3145536" cy="4206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4/5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78027" y="5915787"/>
            <a:ext cx="4476750" cy="869442"/>
            <a:chOff x="0" y="0"/>
            <a:chExt cx="5969000" cy="11592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9690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969000">
                  <a:moveTo>
                    <a:pt x="0" y="74803"/>
                  </a:moveTo>
                  <a:cubicBezTo>
                    <a:pt x="0" y="33528"/>
                    <a:pt x="33528" y="0"/>
                    <a:pt x="74803" y="0"/>
                  </a:cubicBezTo>
                  <a:lnTo>
                    <a:pt x="5894197" y="0"/>
                  </a:lnTo>
                  <a:cubicBezTo>
                    <a:pt x="5935472" y="0"/>
                    <a:pt x="5969000" y="33528"/>
                    <a:pt x="5969000" y="74803"/>
                  </a:cubicBezTo>
                  <a:lnTo>
                    <a:pt x="5969000" y="1084453"/>
                  </a:lnTo>
                  <a:cubicBezTo>
                    <a:pt x="5969000" y="1125728"/>
                    <a:pt x="5935472" y="1159256"/>
                    <a:pt x="5894197" y="1159256"/>
                  </a:cubicBezTo>
                  <a:lnTo>
                    <a:pt x="74803" y="1159256"/>
                  </a:lnTo>
                  <a:cubicBezTo>
                    <a:pt x="33528" y="1159256"/>
                    <a:pt x="0" y="1125728"/>
                    <a:pt x="0" y="10844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978027" y="5915787"/>
            <a:ext cx="115062" cy="869442"/>
            <a:chOff x="0" y="0"/>
            <a:chExt cx="153416" cy="11592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5341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059669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234440" y="6191631"/>
            <a:ext cx="4073652" cy="315468"/>
            <a:chOff x="0" y="0"/>
            <a:chExt cx="5431536" cy="42062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431536" cy="420624"/>
            </a:xfrm>
            <a:custGeom>
              <a:avLst/>
              <a:gdLst/>
              <a:ahLst/>
              <a:cxnLst/>
              <a:rect r="r" b="b" t="t" l="l"/>
              <a:pathLst>
                <a:path h="420624" w="5431536">
                  <a:moveTo>
                    <a:pt x="0" y="0"/>
                  </a:moveTo>
                  <a:lnTo>
                    <a:pt x="5431536" y="0"/>
                  </a:lnTo>
                  <a:lnTo>
                    <a:pt x="5431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11" r="0" b="-201611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5431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 · Gestión servicio técnico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5435727" y="5915787"/>
            <a:ext cx="2378202" cy="869442"/>
            <a:chOff x="0" y="0"/>
            <a:chExt cx="3170936" cy="115925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5445252" y="6144768"/>
            <a:ext cx="2359152" cy="315468"/>
            <a:chOff x="0" y="0"/>
            <a:chExt cx="3145536" cy="42062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5/5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794879" y="5915787"/>
            <a:ext cx="2378202" cy="869442"/>
            <a:chOff x="0" y="0"/>
            <a:chExt cx="3170936" cy="115925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7804404" y="6144768"/>
            <a:ext cx="2359152" cy="315468"/>
            <a:chOff x="0" y="0"/>
            <a:chExt cx="3145536" cy="42062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3/5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154031" y="5915787"/>
            <a:ext cx="2378202" cy="869442"/>
            <a:chOff x="0" y="0"/>
            <a:chExt cx="3170936" cy="11592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0163556" y="6144768"/>
            <a:ext cx="2359152" cy="315468"/>
            <a:chOff x="0" y="0"/>
            <a:chExt cx="3145536" cy="42062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4/5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2513183" y="5915787"/>
            <a:ext cx="2378202" cy="869442"/>
            <a:chOff x="0" y="0"/>
            <a:chExt cx="3170936" cy="115925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17093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7093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3114802" y="0"/>
                  </a:lnTo>
                  <a:cubicBezTo>
                    <a:pt x="3145790" y="0"/>
                    <a:pt x="3170936" y="25146"/>
                    <a:pt x="3170936" y="56134"/>
                  </a:cubicBezTo>
                  <a:lnTo>
                    <a:pt x="3170936" y="1103122"/>
                  </a:lnTo>
                  <a:cubicBezTo>
                    <a:pt x="3170936" y="1134110"/>
                    <a:pt x="3145790" y="1159256"/>
                    <a:pt x="3114802" y="1159256"/>
                  </a:cubicBezTo>
                  <a:lnTo>
                    <a:pt x="56134" y="1159256"/>
                  </a:lnTo>
                  <a:cubicBezTo>
                    <a:pt x="25146" y="1159256"/>
                    <a:pt x="0" y="1134110"/>
                    <a:pt x="0" y="11031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522708" y="6144768"/>
            <a:ext cx="2359152" cy="315468"/>
            <a:chOff x="0" y="0"/>
            <a:chExt cx="3145536" cy="42062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145536" cy="420624"/>
            </a:xfrm>
            <a:custGeom>
              <a:avLst/>
              <a:gdLst/>
              <a:ahLst/>
              <a:cxnLst/>
              <a:rect r="r" b="b" t="t" l="l"/>
              <a:pathLst>
                <a:path h="420624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714" r="0" b="-9571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314553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4755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2/5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5583" y="3963924"/>
            <a:ext cx="2436833" cy="2359152"/>
            <a:chOff x="0" y="0"/>
            <a:chExt cx="3249111" cy="3145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49111" cy="3145536"/>
            </a:xfrm>
            <a:custGeom>
              <a:avLst/>
              <a:gdLst/>
              <a:ahLst/>
              <a:cxnLst/>
              <a:rect r="r" b="b" t="t" l="l"/>
              <a:pathLst>
                <a:path h="3145536" w="3249111">
                  <a:moveTo>
                    <a:pt x="0" y="0"/>
                  </a:moveTo>
                  <a:lnTo>
                    <a:pt x="3249111" y="0"/>
                  </a:lnTo>
                  <a:lnTo>
                    <a:pt x="3249111" y="3145536"/>
                  </a:lnTo>
                  <a:lnTo>
                    <a:pt x="0" y="3145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62" r="-339032" b="-383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249111" cy="3155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00"/>
                </a:lnSpc>
              </a:pPr>
              <a:r>
                <a:rPr lang="en-US" sz="525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Gracias!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DAHS8BJIdbE</dc:identifier>
  <dcterms:modified xsi:type="dcterms:W3CDTF">2011-08-01T06:04:30Z</dcterms:modified>
  <cp:revision>1</cp:revision>
  <dc:title>Capstone</dc:title>
</cp:coreProperties>
</file>