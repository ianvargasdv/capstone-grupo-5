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Desarrollamos un MVP para revisar cómo integrar un asistente de IA al seguimiento inmobiliario. Durante la fase 2 construimos el CRM que permite probar ese flujo y ampliamos las funciones del asistente. El resultado corresponde a una versión de desarrollo con datos ficticios.</a:t>
            </a:r>
          </a:p>
          <a:p>
            <a:endParaRPr/>
          </a:p>
          <a:p>
            <a:r>
              <a:t>Fuente: informe 2.6 del proyecto y SEGUIMIENTO_DESARROLLO.md.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problema que tomamos como punto de partida es la pérdida de contexto cuando el seguimiento de un interesado queda disperso. El cliente no ingresa al sistema. Ejecutivo y administrador trabajan dentro del CRM. No validamos todavía la solución con una inmobiliaria ni medimos ahorro de tiempo o ventas.</a:t>
            </a:r>
          </a:p>
          <a:p>
            <a:endParaRPr/>
          </a:p>
          <a:p>
            <a:r>
              <a:t>Fuente: informe 2.6, apartados 1 y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Construimos una base de CRM para dar contexto al asistente. La fase abarca leads, catálogo, tareas, interacciones, oportunidades y visitas. Incorporamos responsables, historial, permisos y auditoría. Las reglas de priorización y matching son deterministas. El modelo de IA apoya el seguimiento con texto revisable.</a:t>
            </a:r>
          </a:p>
          <a:p>
            <a:endParaRPr/>
          </a:p>
          <a:p>
            <a:r>
              <a:t>Fuentes: informe 2.6, apartado 4; código backend y frontend; commits 3a0d95a y deefe06.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captura corresponde a una prueba local de interfaz del 16 de octubre, no a una inmobiliaria operando con clientes reales. Se combinó la búsqueda nunoa con el filtro Arriendo y aparecieron dos resultados. No se debe interpretar el total visible como el tamaño de la base compartida. El matching compara los requisitos mediante reglas explicables, no mediante una predicción de compra.</a:t>
            </a:r>
          </a:p>
          <a:p>
            <a:endParaRPr/>
          </a:p>
          <a:p>
            <a:r>
              <a:t>Fuente: outputs/calidad-asistente-20261016/catalogo-ux-prueba.jpg y SEGUIMIENTO_DESARROLLO.md, módulo de presentación y UX.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Cada función se solicita desde la ficha del lead y usa el contexto registrado. El sistema conserva la respuesta original y su consumo. Los borradores editados temporalmente no reemplazan el análisis guardado. Ninguna de estas opciones contacta al cliente por sí sola.</a:t>
            </a:r>
          </a:p>
          <a:p>
            <a:endParaRPr/>
          </a:p>
          <a:p>
            <a:r>
              <a:t>Fuentes: backend/ia.py; frontend/src/components/AsistenteIA.jsx; historias SCRUM-24, SCRUM-25, SCRUM-32 y SCRUM-33 en Jira.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Usamos una ficha artificial de un interesado que busca una casa en La Reina, con presupuesto de 6.000 a 7.500 UF. Los datos básicos están completos, pero existe una tarea pendiente para confirmar estacionamientos y superficie de terreno. La respuesta real detectó esos pendientes en lugar de declarar que no faltaba información. Las dos preguntas de la diapositiva son un extracto literal del resultado guardado. No corresponden a una conversación real con un cliente.</a:t>
            </a:r>
          </a:p>
          <a:p>
            <a:endParaRPr/>
          </a:p>
          <a:p>
            <a:r>
              <a:t>Fuente: backend/evidencias/evaluacion_calidad_20261016.json, caso preguntas_requisitos_en_notas. Respuesta completa: La ficha ya registra operación, tipo de propiedad, comuna, presupuesto, dormitorios, baños y plazo de búsqueda. La tarea de confirmar estacionamientos y superficie de terreno figura pendiente y su fecha de vencimiento ya pasó; no consta si se completó. ¿Tiene algún requisito de estacionamientos? ¿Qué superficie de terreno busca, si tiene una preferencia?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recomendación puede usarse como referencia para preparar una tarea. El formulario recupera los pendientes actuales. Abrir tarea existente permite editar el registro original sin crear otra tarea. La captura proviene de una prueba local con SQLite y una recomendación simulada. Al guardar una modificación, la cantidad de tareas se mantuvo y la auditoría registró Modificación, no Creación. Esto no equivale a una garantía de ausencia de duplicados entre usuarios concurrentes.</a:t>
            </a:r>
          </a:p>
          <a:p>
            <a:endParaRPr/>
          </a:p>
          <a:p>
            <a:r>
              <a:t>Fuentes: frontend/src/tareaDesdeIA.js; FormularioTarea.jsx; outputs/ampliacion-ia-20261015/abrir-tarea-existente-simulada.jpg; SEGUIMIENTO_DESARROLLO.md, seguimiento a partir de una recomendación.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interfaz React consulta el backend. FastAPI controla permisos y valida entradas. SQLAlchemy permite persistir los registros en PostgreSQL de Supabase. Cuando el usuario pide un análisis, el backend construye el contexto y consulta la API de un proveedor externo de IA. El proyecto no entrena un modelo propio. Las reglas de priorización y matching son distintas del texto generado por el modelo.</a:t>
            </a:r>
          </a:p>
          <a:p>
            <a:endParaRPr/>
          </a:p>
          <a:p>
            <a:r>
              <a:t>Fuentes: backend/main.py, backend/ia.py, backend/database.py y archivos de configuración del frontend. No se incluyen credenciales.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Bryan comprobó el cambio de responsable desde administración, reabrió la ficha y verificó el historial y el registro en Actividad. Con una cuenta de ejecutivo confirmó que podía consultar el historial, sin reasignar ni entrar a Actividad. La captura corresponde al 15/10/2026 y por eso conserva el rótulo Demo anterior. La reasignación del lead no cambia por sí sola los responsables de visitas, tareas u oportunidades.</a:t>
            </a:r>
          </a:p>
          <a:p>
            <a:endParaRPr/>
          </a:p>
          <a:p>
            <a:r>
              <a:t>Fuente: informe 2.6, apartado 4.4 y figura 1; backend/prueba_asignaciones.py.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últimos registros técnicos indican 221 comprobaciones del backend y 14 del frontend aprobadas. La compilación del frontend también aprobó. Las ocho llamadas al modelo real se evaluaron por separado con fichas artificiales y una ejecución por caso. En esa muestra observamos los criterios previstos, pero no constituye una medición estadística de precisión. Las pruebas de API usan una base temporal y respuestas simuladas cuando corresponde.</a:t>
            </a:r>
          </a:p>
          <a:p>
            <a:endParaRPr/>
          </a:p>
          <a:p>
            <a:r>
              <a:t>Fuentes: SEGUIMIENTO_DESARROLLO.md, módulo de presentación y UX; backend/evidencias/evaluacion_calidad_20261016.json; scripts de prueba del backend y frontend/src/*.test.js.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Jira conserva cuatro sprints cerrados y 27 historias finalizadas al 16 de octubre de 2026. Las dos historias nuevas del borrador y las preguntas se completaron fuera de esos sprints. Sus puntos se registraron después del desarrollo, por lo que no se presentan como una estimación previa ni se incorporan a los burndowns anteriores. Parte de la documentación de sprints se reconstruyó a partir del código y se distingue del seguimiento diario original.</a:t>
            </a:r>
          </a:p>
          <a:p>
            <a:endParaRPr/>
          </a:p>
          <a:p>
            <a:r>
              <a:t>Fuentes: consulta de Jira del 16/10/2026, SCRUM-32 y SCRUM-33; informe 2.6, metodología; Git, commits 3a0d95a y deefe06.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resultado es un MVP funcional para pruebas y demostración. Reúne un flujo de CRM y un asistente que prepara información para el ejecutivo. No afirmamos que esté listo para producción ni que haya producido ventas. La continuidad implica evaluar la utilidad con usuarios inmobiliarios y comprobar carga y concurrencia en PostgreSQL. Una integración de WhatsApp requeriría nuevo alcance, permisos y pruebas.</a:t>
            </a:r>
          </a:p>
          <a:p>
            <a:endParaRPr/>
          </a:p>
          <a:p>
            <a:r>
              <a:t>Fuentes: informe 2.6, apartados 4.5 y 6; registros de validación del proyecto.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3FB7024-832F-4183-85CC-893BC68520F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FD23947-8D03-40E8-9D15-48012A31ECC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D8FCA3A-5CDE-4A54-89F0-6F62C5D2BAA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B8B7ECF-534C-445A-B6E7-A0507581908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67A99FA-D411-4E00-B5AA-7A84D78ED6D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8F81874-19CA-4579-B0B9-9B833E04531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8EDF98D-783F-405E-AD8B-64E67CFE1D6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AB3B7DA-F367-46FE-BA6F-2B9927CB327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B5B074D-B6FA-4BBE-A3F1-3080137ACD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0894D0D-B87B-4B1A-87E1-3DA7A16BAFD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A32D93F-6B30-46B7-9D1B-17D0385FC14F}"/>
              </a:ext>
            </a:extLst>
          </p:cNvPr>
          <p:cNvPicPr>
            <a:picLocks noChangeAspect="1"/>
          </p:cNvPicPr>
          <p:nvPr/>
        </p:nvPicPr>
        <p:blipFill>
          <a:blip r:embed="rId3"/>
          <a:stretch/>
        </p:blipFill>
        <p:spPr>
          <a:xfrm>
            <a:off x="8705850" y="515231"/>
            <a:ext cx="2800350" cy="626888"/>
          </a:xfrm>
          <a:prstGeom prst="rect">
            <a:avLst/>
          </a:prstGeom>
        </p:spPr>
      </p:pic>
      <p:sp>
        <p:nvSpPr>
          <p:cNvPr id="2" name="Avance de la fase 2">
            <a:extLst>
              <a:ext uri="{FF2B5EF4-FFF2-40B4-BE49-F238E27FC236}">
                <a16:creationId xmlns:a16="http://schemas.microsoft.com/office/drawing/2014/main" id="{43BA19D0-1EBC-4A2C-8668-645B6E2D6FD6}"/>
              </a:ext>
            </a:extLst>
          </p:cNvPr>
          <p:cNvSpPr>
            <a:spLocks noGrp="1"/>
          </p:cNvSpPr>
          <p:nvPr/>
        </p:nvSpPr>
        <p:spPr>
          <a:xfrm>
            <a:off x="685800" y="1295400"/>
            <a:ext cx="7620000" cy="428625"/>
          </a:xfrm>
          <a:prstGeom prst="rect">
            <a:avLst/>
          </a:prstGeom>
          <a:noFill/>
          <a:ln w="0">
            <a:noFill/>
            <a:prstDash val="solid"/>
          </a:ln>
        </p:spPr>
        <p:txBody>
          <a:bodyPr wrap="square" lIns="0" tIns="0" rIns="0" bIns="0" anchor="t">
            <a:noAutofit/>
          </a:bodyPr>
          <a:lstStyle>
            <a:defPPr algn="l">
              <a:defRPr sz="2250" b="0">
                <a:solidFill>
                  <a:srgbClr val="596575"/>
                </a:solidFill>
                <a:latin typeface="Calibri"/>
                <a:ea typeface="Calibri"/>
                <a:cs typeface="Calibri"/>
              </a:defRPr>
            </a:defPPr>
          </a:lstStyle>
          <a:p>
            <a:pPr algn="l">
              <a:defRPr sz="2250" b="0">
                <a:solidFill>
                  <a:srgbClr val="596575"/>
                </a:solidFill>
                <a:latin typeface="Calibri"/>
                <a:ea typeface="Calibri"/>
                <a:cs typeface="Calibri"/>
              </a:defRPr>
            </a:pPr>
            <a:r>
              <a:rPr sz="2250" b="0">
                <a:solidFill>
                  <a:srgbClr val="596575"/>
                </a:solidFill>
                <a:latin typeface="Calibri"/>
                <a:ea typeface="Calibri"/>
                <a:cs typeface="Calibri"/>
              </a:rPr>
              <a:t>Avance de la fase 2</a:t>
            </a:r>
          </a:p>
        </p:txBody>
      </p:sp>
      <p:sp>
        <p:nvSpPr>
          <p:cNvPr id="3" name="Título de portada">
            <a:extLst>
              <a:ext uri="{FF2B5EF4-FFF2-40B4-BE49-F238E27FC236}">
                <a16:creationId xmlns:a16="http://schemas.microsoft.com/office/drawing/2014/main" id="{AFF37FD7-306E-478C-85D4-B3C76D31DCF9}"/>
              </a:ext>
            </a:extLst>
          </p:cNvPr>
          <p:cNvSpPr>
            <a:spLocks noGrp="1"/>
          </p:cNvSpPr>
          <p:nvPr/>
        </p:nvSpPr>
        <p:spPr>
          <a:xfrm>
            <a:off x="685800" y="2019300"/>
            <a:ext cx="10382250" cy="1714500"/>
          </a:xfrm>
          <a:prstGeom prst="rect">
            <a:avLst/>
          </a:prstGeom>
          <a:noFill/>
          <a:ln w="0">
            <a:noFill/>
            <a:prstDash val="solid"/>
          </a:ln>
        </p:spPr>
        <p:txBody>
          <a:bodyPr wrap="square" lIns="0" tIns="0" rIns="0" bIns="0" anchor="t">
            <a:noAutofit/>
          </a:bodyPr>
          <a:lstStyle>
            <a:defPPr algn="l">
              <a:defRPr sz="4650" b="1">
                <a:solidFill>
                  <a:srgbClr val="223D69"/>
                </a:solidFill>
                <a:latin typeface="Calibri"/>
                <a:ea typeface="Calibri"/>
                <a:cs typeface="Calibri"/>
              </a:defRPr>
            </a:defPPr>
          </a:lstStyle>
          <a:p>
            <a:pPr algn="l">
              <a:defRPr sz="4650" b="1">
                <a:solidFill>
                  <a:srgbClr val="223D69"/>
                </a:solidFill>
                <a:latin typeface="Calibri"/>
                <a:ea typeface="Calibri"/>
                <a:cs typeface="Calibri"/>
              </a:defRPr>
            </a:pPr>
            <a:r>
              <a:rPr sz="4650" b="1">
                <a:solidFill>
                  <a:srgbClr val="223D69"/>
                </a:solidFill>
                <a:latin typeface="Calibri"/>
                <a:ea typeface="Calibri"/>
                <a:cs typeface="Calibri"/>
              </a:rPr>
              <a:t>Agente de IA para</a:t>
            </a:r>
          </a:p>
          <a:p>
            <a:pPr algn="l">
              <a:defRPr sz="4650" b="1">
                <a:solidFill>
                  <a:srgbClr val="223D69"/>
                </a:solidFill>
                <a:latin typeface="Calibri"/>
                <a:ea typeface="Calibri"/>
                <a:cs typeface="Calibri"/>
              </a:defRPr>
            </a:pPr>
            <a:r>
              <a:rPr sz="4650" b="1">
                <a:solidFill>
                  <a:srgbClr val="223D69"/>
                </a:solidFill>
                <a:latin typeface="Calibri"/>
                <a:ea typeface="Calibri"/>
                <a:cs typeface="Calibri"/>
              </a:rPr>
              <a:t>CRM inmobiliario</a:t>
            </a:r>
          </a:p>
        </p:txBody>
      </p:sp>
      <p:sp>
        <p:nvSpPr>
          <p:cNvPr id="4" name="Bryan Vargas y Amaro Gutiérrez">
            <a:extLst>
              <a:ext uri="{FF2B5EF4-FFF2-40B4-BE49-F238E27FC236}">
                <a16:creationId xmlns:a16="http://schemas.microsoft.com/office/drawing/2014/main" id="{E6DE79D7-E63D-4898-BA90-8248DC91B6F2}"/>
              </a:ext>
            </a:extLst>
          </p:cNvPr>
          <p:cNvSpPr>
            <a:spLocks noGrp="1"/>
          </p:cNvSpPr>
          <p:nvPr/>
        </p:nvSpPr>
        <p:spPr>
          <a:xfrm>
            <a:off x="685800" y="4533900"/>
            <a:ext cx="10382250" cy="40005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Bryan Vargas y Amaro Gutiérrez</a:t>
            </a:r>
          </a:p>
        </p:txBody>
      </p:sp>
      <p:sp>
        <p:nvSpPr>
          <p:cNvPr id="5" name="Ingeniería en Informática&#10;Proyecto Capstone">
            <a:extLst>
              <a:ext uri="{FF2B5EF4-FFF2-40B4-BE49-F238E27FC236}">
                <a16:creationId xmlns:a16="http://schemas.microsoft.com/office/drawing/2014/main" id="{E52DB034-25C2-40B6-B627-FD8554E5FC77}"/>
              </a:ext>
            </a:extLst>
          </p:cNvPr>
          <p:cNvSpPr>
            <a:spLocks noGrp="1"/>
          </p:cNvSpPr>
          <p:nvPr/>
        </p:nvSpPr>
        <p:spPr>
          <a:xfrm>
            <a:off x="685800" y="5105400"/>
            <a:ext cx="9048750" cy="762000"/>
          </a:xfrm>
          <a:prstGeom prst="rect">
            <a:avLst/>
          </a:prstGeom>
          <a:noFill/>
          <a:ln w="0">
            <a:noFill/>
            <a:prstDash val="solid"/>
          </a:ln>
        </p:spPr>
        <p:txBody>
          <a:bodyPr wrap="square" lIns="0" tIns="0" rIns="0" bIns="0" anchor="t">
            <a:noAutofit/>
          </a:bodyPr>
          <a:lstStyle>
            <a:defPPr algn="l">
              <a:defRPr sz="1950" b="0">
                <a:solidFill>
                  <a:srgbClr val="596575"/>
                </a:solidFill>
                <a:latin typeface="Calibri"/>
                <a:ea typeface="Calibri"/>
                <a:cs typeface="Calibri"/>
              </a:defRPr>
            </a:defPPr>
          </a:lstStyle>
          <a:p>
            <a:pPr algn="l">
              <a:defRPr sz="1950" b="0">
                <a:solidFill>
                  <a:srgbClr val="596575"/>
                </a:solidFill>
                <a:latin typeface="Calibri"/>
                <a:ea typeface="Calibri"/>
                <a:cs typeface="Calibri"/>
              </a:defRPr>
            </a:pPr>
            <a:r>
              <a:rPr sz="1950" b="0">
                <a:solidFill>
                  <a:srgbClr val="596575"/>
                </a:solidFill>
                <a:latin typeface="Calibri"/>
                <a:ea typeface="Calibri"/>
                <a:cs typeface="Calibri"/>
              </a:rPr>
              <a:t>Ingeniería en Informática</a:t>
            </a:r>
          </a:p>
          <a:p>
            <a:pPr algn="l">
              <a:defRPr sz="1950" b="0">
                <a:solidFill>
                  <a:srgbClr val="596575"/>
                </a:solidFill>
                <a:latin typeface="Calibri"/>
                <a:ea typeface="Calibri"/>
                <a:cs typeface="Calibri"/>
              </a:defRPr>
            </a:pPr>
            <a:r>
              <a:rPr sz="1950" b="0">
                <a:solidFill>
                  <a:srgbClr val="596575"/>
                </a:solidFill>
                <a:latin typeface="Calibri"/>
                <a:ea typeface="Calibri"/>
                <a:cs typeface="Calibri"/>
              </a:rPr>
              <a:t>Proyecto Capstone</a:t>
            </a:r>
          </a:p>
        </p:txBody>
      </p:sp>
      <p:sp>
        <p:nvSpPr>
          <p:cNvPr id="6" name="16 de octubre de 2026">
            <a:extLst>
              <a:ext uri="{FF2B5EF4-FFF2-40B4-BE49-F238E27FC236}">
                <a16:creationId xmlns:a16="http://schemas.microsoft.com/office/drawing/2014/main" id="{E484715F-2C81-4B8F-A46E-A21123D669FD}"/>
              </a:ext>
            </a:extLst>
          </p:cNvPr>
          <p:cNvSpPr>
            <a:spLocks noGrp="1"/>
          </p:cNvSpPr>
          <p:nvPr/>
        </p:nvSpPr>
        <p:spPr>
          <a:xfrm>
            <a:off x="685800" y="6096000"/>
            <a:ext cx="8096250" cy="285750"/>
          </a:xfrm>
          <a:prstGeom prst="rect">
            <a:avLst/>
          </a:prstGeom>
          <a:noFill/>
          <a:ln w="0">
            <a:noFill/>
            <a:prstDash val="solid"/>
          </a:ln>
        </p:spPr>
        <p:txBody>
          <a:bodyPr wrap="square" lIns="0" tIns="0" rIns="0" bIns="0" anchor="t">
            <a:noAutofit/>
          </a:bodyPr>
          <a:lstStyle>
            <a:defPPr algn="l">
              <a:defRPr sz="1650" b="0">
                <a:solidFill>
                  <a:srgbClr val="596575"/>
                </a:solidFill>
                <a:latin typeface="Calibri"/>
                <a:ea typeface="Calibri"/>
                <a:cs typeface="Calibri"/>
              </a:defRPr>
            </a:defPPr>
          </a:lstStyle>
          <a:p>
            <a:pPr algn="l">
              <a:defRPr sz="1650" b="0">
                <a:solidFill>
                  <a:srgbClr val="596575"/>
                </a:solidFill>
                <a:latin typeface="Calibri"/>
                <a:ea typeface="Calibri"/>
                <a:cs typeface="Calibri"/>
              </a:defRPr>
            </a:pPr>
            <a:r>
              <a:rPr sz="1650" b="0">
                <a:solidFill>
                  <a:srgbClr val="596575"/>
                </a:solidFill>
                <a:latin typeface="Calibri"/>
                <a:ea typeface="Calibri"/>
                <a:cs typeface="Calibri"/>
              </a:rPr>
              <a:t>16 de octubre de 2026</a:t>
            </a:r>
          </a:p>
        </p:txBody>
      </p:sp>
    </p:spTree>
    <p:extLst>
      <p:ext uri="{BB962C8B-B14F-4D97-AF65-F5344CB8AC3E}">
        <p14:creationId xmlns:p14="http://schemas.microsoft.com/office/powerpoint/2010/main" val="61516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ítulo">
            <a:extLst>
              <a:ext uri="{FF2B5EF4-FFF2-40B4-BE49-F238E27FC236}">
                <a16:creationId xmlns:a16="http://schemas.microsoft.com/office/drawing/2014/main" id="{4F675321-6232-4CEA-A08B-A6CE8B57DECE}"/>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Problema y usuarios</a:t>
            </a:r>
          </a:p>
        </p:txBody>
      </p:sp>
      <p:sp>
        <p:nvSpPr>
          <p:cNvPr id="2" name="Número">
            <a:extLst>
              <a:ext uri="{FF2B5EF4-FFF2-40B4-BE49-F238E27FC236}">
                <a16:creationId xmlns:a16="http://schemas.microsoft.com/office/drawing/2014/main" id="{CFFC7C9D-3423-458E-A430-5951B8CD0566}"/>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2</a:t>
            </a:r>
          </a:p>
        </p:txBody>
      </p:sp>
      <p:sp>
        <p:nvSpPr>
          <p:cNvPr id="3" name="Antes de contactar a un interesado, el ejecut">
            <a:extLst>
              <a:ext uri="{FF2B5EF4-FFF2-40B4-BE49-F238E27FC236}">
                <a16:creationId xmlns:a16="http://schemas.microsoft.com/office/drawing/2014/main" id="{91D8BE23-B32F-4729-8AE4-4BD5EEDC1C5D}"/>
              </a:ext>
            </a:extLst>
          </p:cNvPr>
          <p:cNvSpPr>
            <a:spLocks noGrp="1"/>
          </p:cNvSpPr>
          <p:nvPr/>
        </p:nvSpPr>
        <p:spPr>
          <a:xfrm>
            <a:off x="685800" y="1524000"/>
            <a:ext cx="10382250" cy="1333500"/>
          </a:xfrm>
          <a:prstGeom prst="rect">
            <a:avLst/>
          </a:prstGeom>
          <a:noFill/>
          <a:ln w="0">
            <a:noFill/>
            <a:prstDash val="solid"/>
          </a:ln>
        </p:spPr>
        <p:txBody>
          <a:bodyPr wrap="square" lIns="0" tIns="0" rIns="0" bIns="0" anchor="t">
            <a:noAutofit/>
          </a:bodyPr>
          <a:lstStyle>
            <a:defPPr algn="l">
              <a:defRPr sz="2850" b="0">
                <a:solidFill>
                  <a:srgbClr val="242B35"/>
                </a:solidFill>
                <a:latin typeface="Calibri"/>
                <a:ea typeface="Calibri"/>
                <a:cs typeface="Calibri"/>
              </a:defRPr>
            </a:defPPr>
          </a:lstStyle>
          <a:p>
            <a:pPr algn="l">
              <a:defRPr sz="2850" b="0">
                <a:solidFill>
                  <a:srgbClr val="242B35"/>
                </a:solidFill>
                <a:latin typeface="Calibri"/>
                <a:ea typeface="Calibri"/>
                <a:cs typeface="Calibri"/>
              </a:defRPr>
            </a:pPr>
            <a:r>
              <a:rPr sz="2850" b="0">
                <a:solidFill>
                  <a:srgbClr val="242B35"/>
                </a:solidFill>
                <a:latin typeface="Calibri"/>
                <a:ea typeface="Calibri"/>
                <a:cs typeface="Calibri"/>
              </a:rPr>
              <a:t>Antes de contactar a un interesado, el ejecutivo necesita recuperar su búsqueda y revisar qué quedó pendiente.</a:t>
            </a:r>
          </a:p>
        </p:txBody>
      </p:sp>
      <p:sp>
        <p:nvSpPr>
          <p:cNvPr id="4" name="Nuestra propuesta reúne esos antecedentes en ">
            <a:extLst>
              <a:ext uri="{FF2B5EF4-FFF2-40B4-BE49-F238E27FC236}">
                <a16:creationId xmlns:a16="http://schemas.microsoft.com/office/drawing/2014/main" id="{575A6368-BD12-4092-90EF-2C5A1FD0A082}"/>
              </a:ext>
            </a:extLst>
          </p:cNvPr>
          <p:cNvSpPr>
            <a:spLocks noGrp="1"/>
          </p:cNvSpPr>
          <p:nvPr/>
        </p:nvSpPr>
        <p:spPr>
          <a:xfrm>
            <a:off x="685800" y="3086100"/>
            <a:ext cx="10382250" cy="95250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Nuestra propuesta reúne esos antecedentes en una ficha y utiliza IA para apoyar la preparación del seguimiento.</a:t>
            </a:r>
          </a:p>
        </p:txBody>
      </p:sp>
      <p:sp>
        <p:nvSpPr>
          <p:cNvPr id="5" name="Ejecutivo">
            <a:extLst>
              <a:ext uri="{FF2B5EF4-FFF2-40B4-BE49-F238E27FC236}">
                <a16:creationId xmlns:a16="http://schemas.microsoft.com/office/drawing/2014/main" id="{C6FA2A0B-7E53-4DBB-ACBE-95F3A3FFE363}"/>
              </a:ext>
            </a:extLst>
          </p:cNvPr>
          <p:cNvSpPr>
            <a:spLocks noGrp="1"/>
          </p:cNvSpPr>
          <p:nvPr/>
        </p:nvSpPr>
        <p:spPr>
          <a:xfrm>
            <a:off x="685800" y="4686300"/>
            <a:ext cx="4476750" cy="438150"/>
          </a:xfrm>
          <a:prstGeom prst="rect">
            <a:avLst/>
          </a:prstGeom>
          <a:noFill/>
          <a:ln w="0">
            <a:noFill/>
            <a:prstDash val="solid"/>
          </a:ln>
        </p:spPr>
        <p:txBody>
          <a:bodyPr wrap="square" lIns="0" tIns="0" rIns="0" bIns="0" anchor="t">
            <a:noAutofit/>
          </a:bodyPr>
          <a:lstStyle>
            <a:defPPr algn="l">
              <a:defRPr sz="2250" b="1">
                <a:solidFill>
                  <a:srgbClr val="223D69"/>
                </a:solidFill>
                <a:latin typeface="Calibri"/>
                <a:ea typeface="Calibri"/>
                <a:cs typeface="Calibri"/>
              </a:defRPr>
            </a:defPPr>
          </a:lstStyle>
          <a:p>
            <a:pPr algn="l">
              <a:defRPr sz="2250" b="1">
                <a:solidFill>
                  <a:srgbClr val="223D69"/>
                </a:solidFill>
                <a:latin typeface="Calibri"/>
                <a:ea typeface="Calibri"/>
                <a:cs typeface="Calibri"/>
              </a:defRPr>
            </a:pPr>
            <a:r>
              <a:rPr sz="2250" b="1">
                <a:solidFill>
                  <a:srgbClr val="223D69"/>
                </a:solidFill>
                <a:latin typeface="Calibri"/>
                <a:ea typeface="Calibri"/>
                <a:cs typeface="Calibri"/>
              </a:rPr>
              <a:t>Ejecutivo</a:t>
            </a:r>
          </a:p>
        </p:txBody>
      </p:sp>
      <p:sp>
        <p:nvSpPr>
          <p:cNvPr id="6" name="Consulta el caso y registra el seguimiento.">
            <a:extLst>
              <a:ext uri="{FF2B5EF4-FFF2-40B4-BE49-F238E27FC236}">
                <a16:creationId xmlns:a16="http://schemas.microsoft.com/office/drawing/2014/main" id="{D9095F51-CA5A-401C-9F27-D98FBFF56ED9}"/>
              </a:ext>
            </a:extLst>
          </p:cNvPr>
          <p:cNvSpPr>
            <a:spLocks noGrp="1"/>
          </p:cNvSpPr>
          <p:nvPr/>
        </p:nvSpPr>
        <p:spPr>
          <a:xfrm>
            <a:off x="685800" y="5219700"/>
            <a:ext cx="4619625" cy="8382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Consulta el caso y registra el seguimiento.</a:t>
            </a:r>
          </a:p>
        </p:txBody>
      </p:sp>
      <p:sp>
        <p:nvSpPr>
          <p:cNvPr id="7" name="Administrador">
            <a:extLst>
              <a:ext uri="{FF2B5EF4-FFF2-40B4-BE49-F238E27FC236}">
                <a16:creationId xmlns:a16="http://schemas.microsoft.com/office/drawing/2014/main" id="{6F8F82AA-A7CC-4EA8-8B1B-4E8695C71132}"/>
              </a:ext>
            </a:extLst>
          </p:cNvPr>
          <p:cNvSpPr>
            <a:spLocks noGrp="1"/>
          </p:cNvSpPr>
          <p:nvPr/>
        </p:nvSpPr>
        <p:spPr>
          <a:xfrm>
            <a:off x="6572250" y="4686300"/>
            <a:ext cx="4476750" cy="438150"/>
          </a:xfrm>
          <a:prstGeom prst="rect">
            <a:avLst/>
          </a:prstGeom>
          <a:noFill/>
          <a:ln w="0">
            <a:noFill/>
            <a:prstDash val="solid"/>
          </a:ln>
        </p:spPr>
        <p:txBody>
          <a:bodyPr wrap="square" lIns="0" tIns="0" rIns="0" bIns="0" anchor="t">
            <a:noAutofit/>
          </a:bodyPr>
          <a:lstStyle>
            <a:defPPr algn="l">
              <a:defRPr sz="2250" b="1">
                <a:solidFill>
                  <a:srgbClr val="223D69"/>
                </a:solidFill>
                <a:latin typeface="Calibri"/>
                <a:ea typeface="Calibri"/>
                <a:cs typeface="Calibri"/>
              </a:defRPr>
            </a:defPPr>
          </a:lstStyle>
          <a:p>
            <a:pPr algn="l">
              <a:defRPr sz="2250" b="1">
                <a:solidFill>
                  <a:srgbClr val="223D69"/>
                </a:solidFill>
                <a:latin typeface="Calibri"/>
                <a:ea typeface="Calibri"/>
                <a:cs typeface="Calibri"/>
              </a:defRPr>
            </a:pPr>
            <a:r>
              <a:rPr sz="2250" b="1">
                <a:solidFill>
                  <a:srgbClr val="223D69"/>
                </a:solidFill>
                <a:latin typeface="Calibri"/>
                <a:ea typeface="Calibri"/>
                <a:cs typeface="Calibri"/>
              </a:rPr>
              <a:t>Administrador</a:t>
            </a:r>
          </a:p>
        </p:txBody>
      </p:sp>
      <p:sp>
        <p:nvSpPr>
          <p:cNvPr id="8" name="Además controla permisos, actividad y consumo">
            <a:extLst>
              <a:ext uri="{FF2B5EF4-FFF2-40B4-BE49-F238E27FC236}">
                <a16:creationId xmlns:a16="http://schemas.microsoft.com/office/drawing/2014/main" id="{A07D87C4-2BCA-4304-8C8E-5F9E669012A9}"/>
              </a:ext>
            </a:extLst>
          </p:cNvPr>
          <p:cNvSpPr>
            <a:spLocks noGrp="1"/>
          </p:cNvSpPr>
          <p:nvPr/>
        </p:nvSpPr>
        <p:spPr>
          <a:xfrm>
            <a:off x="6572250" y="5219700"/>
            <a:ext cx="4619625" cy="8382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Además controla permisos, actividad y consumo de IA.</a:t>
            </a:r>
          </a:p>
        </p:txBody>
      </p:sp>
    </p:spTree>
    <p:extLst>
      <p:ext uri="{BB962C8B-B14F-4D97-AF65-F5344CB8AC3E}">
        <p14:creationId xmlns:p14="http://schemas.microsoft.com/office/powerpoint/2010/main" val="2049449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ítulo">
            <a:extLst>
              <a:ext uri="{FF2B5EF4-FFF2-40B4-BE49-F238E27FC236}">
                <a16:creationId xmlns:a16="http://schemas.microsoft.com/office/drawing/2014/main" id="{5DCEC681-DC6B-4573-8D5C-289BC1806201}"/>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Desarrollo durante la fase 2</a:t>
            </a:r>
          </a:p>
        </p:txBody>
      </p:sp>
      <p:sp>
        <p:nvSpPr>
          <p:cNvPr id="2" name="Número">
            <a:extLst>
              <a:ext uri="{FF2B5EF4-FFF2-40B4-BE49-F238E27FC236}">
                <a16:creationId xmlns:a16="http://schemas.microsoft.com/office/drawing/2014/main" id="{E4AF4C04-FC6C-43B3-A197-57863E527785}"/>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3</a:t>
            </a:r>
          </a:p>
        </p:txBody>
      </p:sp>
      <p:sp>
        <p:nvSpPr>
          <p:cNvPr id="3" name="Gestión de clientes">
            <a:extLst>
              <a:ext uri="{FF2B5EF4-FFF2-40B4-BE49-F238E27FC236}">
                <a16:creationId xmlns:a16="http://schemas.microsoft.com/office/drawing/2014/main" id="{7E35913D-6293-4993-8E00-6D46503CEB9E}"/>
              </a:ext>
            </a:extLst>
          </p:cNvPr>
          <p:cNvSpPr>
            <a:spLocks noGrp="1"/>
          </p:cNvSpPr>
          <p:nvPr/>
        </p:nvSpPr>
        <p:spPr>
          <a:xfrm>
            <a:off x="685800" y="1562100"/>
            <a:ext cx="2914650" cy="7620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Gestión de clientes</a:t>
            </a:r>
          </a:p>
        </p:txBody>
      </p:sp>
      <p:sp>
        <p:nvSpPr>
          <p:cNvPr id="4" name="Perfil de búsqueda, responsable, propiedades ">
            <a:extLst>
              <a:ext uri="{FF2B5EF4-FFF2-40B4-BE49-F238E27FC236}">
                <a16:creationId xmlns:a16="http://schemas.microsoft.com/office/drawing/2014/main" id="{4271ECE0-043F-4CB6-814A-5BA33ABFC38A}"/>
              </a:ext>
            </a:extLst>
          </p:cNvPr>
          <p:cNvSpPr>
            <a:spLocks noGrp="1"/>
          </p:cNvSpPr>
          <p:nvPr/>
        </p:nvSpPr>
        <p:spPr>
          <a:xfrm>
            <a:off x="3829050" y="1562100"/>
            <a:ext cx="7677150" cy="7620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Perfil de búsqueda, responsable, propiedades de interés e historial de contacto.</a:t>
            </a:r>
          </a:p>
        </p:txBody>
      </p:sp>
      <p:sp>
        <p:nvSpPr>
          <p:cNvPr id="5" name="Gestión comercial">
            <a:extLst>
              <a:ext uri="{FF2B5EF4-FFF2-40B4-BE49-F238E27FC236}">
                <a16:creationId xmlns:a16="http://schemas.microsoft.com/office/drawing/2014/main" id="{337AED4D-6D1B-41EA-A650-07D9904DBCA5}"/>
              </a:ext>
            </a:extLst>
          </p:cNvPr>
          <p:cNvSpPr>
            <a:spLocks noGrp="1"/>
          </p:cNvSpPr>
          <p:nvPr/>
        </p:nvSpPr>
        <p:spPr>
          <a:xfrm>
            <a:off x="685800" y="2647950"/>
            <a:ext cx="2914650" cy="7620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Gestión comercial</a:t>
            </a:r>
          </a:p>
        </p:txBody>
      </p:sp>
      <p:sp>
        <p:nvSpPr>
          <p:cNvPr id="6" name="Catálogo ampliado, tareas, oportunidades y ag">
            <a:extLst>
              <a:ext uri="{FF2B5EF4-FFF2-40B4-BE49-F238E27FC236}">
                <a16:creationId xmlns:a16="http://schemas.microsoft.com/office/drawing/2014/main" id="{E458C022-0701-40A2-9DC3-204D33D338B8}"/>
              </a:ext>
            </a:extLst>
          </p:cNvPr>
          <p:cNvSpPr>
            <a:spLocks noGrp="1"/>
          </p:cNvSpPr>
          <p:nvPr/>
        </p:nvSpPr>
        <p:spPr>
          <a:xfrm>
            <a:off x="3829050" y="2647950"/>
            <a:ext cx="7677150" cy="7620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Catálogo ampliado, tareas, oportunidades y agenda de visitas.</a:t>
            </a:r>
          </a:p>
        </p:txBody>
      </p:sp>
      <p:sp>
        <p:nvSpPr>
          <p:cNvPr id="7" name="Asistente de IA">
            <a:extLst>
              <a:ext uri="{FF2B5EF4-FFF2-40B4-BE49-F238E27FC236}">
                <a16:creationId xmlns:a16="http://schemas.microsoft.com/office/drawing/2014/main" id="{C57AE614-9D1A-46FE-A685-BB3FB94F0671}"/>
              </a:ext>
            </a:extLst>
          </p:cNvPr>
          <p:cNvSpPr>
            <a:spLocks noGrp="1"/>
          </p:cNvSpPr>
          <p:nvPr/>
        </p:nvSpPr>
        <p:spPr>
          <a:xfrm>
            <a:off x="685800" y="3733800"/>
            <a:ext cx="2914650" cy="7620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Asistente de IA</a:t>
            </a:r>
          </a:p>
        </p:txBody>
      </p:sp>
      <p:sp>
        <p:nvSpPr>
          <p:cNvPr id="8" name="Resúmenes, recomendaciones, borradores y preg">
            <a:extLst>
              <a:ext uri="{FF2B5EF4-FFF2-40B4-BE49-F238E27FC236}">
                <a16:creationId xmlns:a16="http://schemas.microsoft.com/office/drawing/2014/main" id="{8E97B40F-0765-4E19-86F1-10991E2AB7D5}"/>
              </a:ext>
            </a:extLst>
          </p:cNvPr>
          <p:cNvSpPr>
            <a:spLocks noGrp="1"/>
          </p:cNvSpPr>
          <p:nvPr/>
        </p:nvSpPr>
        <p:spPr>
          <a:xfrm>
            <a:off x="3829050" y="3733800"/>
            <a:ext cx="7677150" cy="7620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Resúmenes, recomendaciones, borradores y preguntas para completar el perfil.</a:t>
            </a:r>
          </a:p>
        </p:txBody>
      </p:sp>
      <p:sp>
        <p:nvSpPr>
          <p:cNvPr id="9" name="Control del sistema">
            <a:extLst>
              <a:ext uri="{FF2B5EF4-FFF2-40B4-BE49-F238E27FC236}">
                <a16:creationId xmlns:a16="http://schemas.microsoft.com/office/drawing/2014/main" id="{6F4BB688-2E58-4B9C-A974-531358AA8FEE}"/>
              </a:ext>
            </a:extLst>
          </p:cNvPr>
          <p:cNvSpPr>
            <a:spLocks noGrp="1"/>
          </p:cNvSpPr>
          <p:nvPr/>
        </p:nvSpPr>
        <p:spPr>
          <a:xfrm>
            <a:off x="685800" y="4819650"/>
            <a:ext cx="2914650" cy="7620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Control del sistema</a:t>
            </a:r>
          </a:p>
        </p:txBody>
      </p:sp>
      <p:sp>
        <p:nvSpPr>
          <p:cNvPr id="10" name="Roles, historial de asignaciones, auditoría y">
            <a:extLst>
              <a:ext uri="{FF2B5EF4-FFF2-40B4-BE49-F238E27FC236}">
                <a16:creationId xmlns:a16="http://schemas.microsoft.com/office/drawing/2014/main" id="{80C24264-1458-484C-B850-C3B5B09453AA}"/>
              </a:ext>
            </a:extLst>
          </p:cNvPr>
          <p:cNvSpPr>
            <a:spLocks noGrp="1"/>
          </p:cNvSpPr>
          <p:nvPr/>
        </p:nvSpPr>
        <p:spPr>
          <a:xfrm>
            <a:off x="3829050" y="4819650"/>
            <a:ext cx="7677150" cy="7620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Roles, historial de asignaciones, auditoría y registro de consumo.</a:t>
            </a:r>
          </a:p>
        </p:txBody>
      </p:sp>
    </p:spTree>
    <p:extLst>
      <p:ext uri="{BB962C8B-B14F-4D97-AF65-F5344CB8AC3E}">
        <p14:creationId xmlns:p14="http://schemas.microsoft.com/office/powerpoint/2010/main" val="326219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ítulo">
            <a:extLst>
              <a:ext uri="{FF2B5EF4-FFF2-40B4-BE49-F238E27FC236}">
                <a16:creationId xmlns:a16="http://schemas.microsoft.com/office/drawing/2014/main" id="{B8F4584D-9041-46FB-9CD8-940808663673}"/>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Catálogo y búsqueda de propiedades</a:t>
            </a:r>
          </a:p>
        </p:txBody>
      </p:sp>
      <p:sp>
        <p:nvSpPr>
          <p:cNvPr id="2" name="Número">
            <a:extLst>
              <a:ext uri="{FF2B5EF4-FFF2-40B4-BE49-F238E27FC236}">
                <a16:creationId xmlns:a16="http://schemas.microsoft.com/office/drawing/2014/main" id="{246C378C-8FBB-48A9-90EA-14AB01EC51A3}"/>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4</a:t>
            </a:r>
          </a:p>
        </p:txBody>
      </p:sp>
      <p:sp>
        <p:nvSpPr>
          <p:cNvPr id="3" name="Búsqueda por comuna y filtro de operación en ">
            <a:extLst>
              <a:ext uri="{FF2B5EF4-FFF2-40B4-BE49-F238E27FC236}">
                <a16:creationId xmlns:a16="http://schemas.microsoft.com/office/drawing/2014/main" id="{A7F6560D-39C5-47B4-8C70-498C1E6E1A64}"/>
              </a:ext>
            </a:extLst>
          </p:cNvPr>
          <p:cNvSpPr>
            <a:spLocks noGrp="1"/>
          </p:cNvSpPr>
          <p:nvPr/>
        </p:nvSpPr>
        <p:spPr>
          <a:xfrm>
            <a:off x="685800" y="1333500"/>
            <a:ext cx="10477500" cy="419100"/>
          </a:xfrm>
          <a:prstGeom prst="rect">
            <a:avLst/>
          </a:prstGeom>
          <a:noFill/>
          <a:ln w="0">
            <a:noFill/>
            <a:prstDash val="solid"/>
          </a:ln>
        </p:spPr>
        <p:txBody>
          <a:bodyPr wrap="square" lIns="0" tIns="0" rIns="0" bIns="0" anchor="t">
            <a:noAutofit/>
          </a:bodyPr>
          <a:lstStyle>
            <a:defPPr algn="l">
              <a:defRPr sz="2175" b="0">
                <a:solidFill>
                  <a:srgbClr val="242B35"/>
                </a:solidFill>
                <a:latin typeface="Calibri"/>
                <a:ea typeface="Calibri"/>
                <a:cs typeface="Calibri"/>
              </a:defRPr>
            </a:defPPr>
          </a:lstStyle>
          <a:p>
            <a:pPr algn="l">
              <a:defRPr sz="2175" b="0">
                <a:solidFill>
                  <a:srgbClr val="242B35"/>
                </a:solidFill>
                <a:latin typeface="Calibri"/>
                <a:ea typeface="Calibri"/>
                <a:cs typeface="Calibri"/>
              </a:defRPr>
            </a:pPr>
            <a:r>
              <a:rPr sz="2175" b="0">
                <a:solidFill>
                  <a:srgbClr val="242B35"/>
                </a:solidFill>
                <a:latin typeface="Calibri"/>
                <a:ea typeface="Calibri"/>
                <a:cs typeface="Calibri"/>
              </a:rPr>
              <a:t>Búsqueda por comuna y filtro de operación en el catálogo.</a:t>
            </a:r>
          </a:p>
        </p:txBody>
      </p:sp>
      <p:pic>
        <p:nvPicPr>
          <p:cNvPr id="4" name="Imagen 3">
            <a:extLst>
              <a:ext uri="{FF2B5EF4-FFF2-40B4-BE49-F238E27FC236}">
                <a16:creationId xmlns:a16="http://schemas.microsoft.com/office/drawing/2014/main" id="{EAB20C8C-7CF8-4AA0-809C-7A3E74B20504}"/>
              </a:ext>
            </a:extLst>
          </p:cNvPr>
          <p:cNvPicPr>
            <a:picLocks noChangeAspect="1"/>
          </p:cNvPicPr>
          <p:nvPr/>
        </p:nvPicPr>
        <p:blipFill>
          <a:blip r:embed="rId3"/>
          <a:srcRect b="50000"/>
          <a:stretch/>
        </p:blipFill>
        <p:spPr>
          <a:xfrm>
            <a:off x="685800" y="2133600"/>
            <a:ext cx="10820400" cy="3048000"/>
          </a:xfrm>
          <a:prstGeom prst="rect">
            <a:avLst/>
          </a:prstGeom>
        </p:spPr>
      </p:pic>
      <p:sp>
        <p:nvSpPr>
          <p:cNvPr id="5" name="El ejecutivo puede revisar precio, distribuci">
            <a:extLst>
              <a:ext uri="{FF2B5EF4-FFF2-40B4-BE49-F238E27FC236}">
                <a16:creationId xmlns:a16="http://schemas.microsoft.com/office/drawing/2014/main" id="{1DBB0139-FD8C-483D-907A-EAD1B5EED890}"/>
              </a:ext>
            </a:extLst>
          </p:cNvPr>
          <p:cNvSpPr>
            <a:spLocks noGrp="1"/>
          </p:cNvSpPr>
          <p:nvPr/>
        </p:nvSpPr>
        <p:spPr>
          <a:xfrm>
            <a:off x="685800" y="5448300"/>
            <a:ext cx="10668000" cy="619125"/>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dirty="0">
                <a:solidFill>
                  <a:srgbClr val="242B35"/>
                </a:solidFill>
                <a:latin typeface="Calibri"/>
                <a:ea typeface="Calibri"/>
                <a:cs typeface="Calibri"/>
              </a:rPr>
              <a:t>El </a:t>
            </a:r>
            <a:r>
              <a:rPr sz="2100" b="0" dirty="0" err="1">
                <a:solidFill>
                  <a:srgbClr val="242B35"/>
                </a:solidFill>
                <a:latin typeface="Calibri"/>
                <a:ea typeface="Calibri"/>
                <a:cs typeface="Calibri"/>
              </a:rPr>
              <a:t>ejecutivo</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puede</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revisar</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precio</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distribución</a:t>
            </a:r>
            <a:r>
              <a:rPr sz="2100" b="0" dirty="0">
                <a:solidFill>
                  <a:srgbClr val="242B35"/>
                </a:solidFill>
                <a:latin typeface="Calibri"/>
                <a:ea typeface="Calibri"/>
                <a:cs typeface="Calibri"/>
              </a:rPr>
              <a:t> y </a:t>
            </a:r>
            <a:r>
              <a:rPr sz="2100" b="0" dirty="0" err="1">
                <a:solidFill>
                  <a:srgbClr val="242B35"/>
                </a:solidFill>
                <a:latin typeface="Calibri"/>
                <a:ea typeface="Calibri"/>
                <a:cs typeface="Calibri"/>
              </a:rPr>
              <a:t>estado</a:t>
            </a:r>
            <a:r>
              <a:rPr sz="2100" b="0" dirty="0">
                <a:solidFill>
                  <a:srgbClr val="242B35"/>
                </a:solidFill>
                <a:latin typeface="Calibri"/>
                <a:ea typeface="Calibri"/>
                <a:cs typeface="Calibri"/>
              </a:rPr>
              <a:t> antes de </a:t>
            </a:r>
            <a:r>
              <a:rPr sz="2100" b="0" dirty="0" err="1">
                <a:solidFill>
                  <a:srgbClr val="242B35"/>
                </a:solidFill>
                <a:latin typeface="Calibri"/>
                <a:ea typeface="Calibri"/>
                <a:cs typeface="Calibri"/>
              </a:rPr>
              <a:t>asociar</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una</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propiedad</a:t>
            </a:r>
            <a:r>
              <a:rPr sz="2100" b="0" dirty="0">
                <a:solidFill>
                  <a:srgbClr val="242B35"/>
                </a:solidFill>
                <a:latin typeface="Calibri"/>
                <a:ea typeface="Calibri"/>
                <a:cs typeface="Calibri"/>
              </a:rPr>
              <a:t> al </a:t>
            </a:r>
            <a:r>
              <a:rPr sz="2100" b="0" dirty="0" err="1">
                <a:solidFill>
                  <a:srgbClr val="242B35"/>
                </a:solidFill>
                <a:latin typeface="Calibri"/>
                <a:ea typeface="Calibri"/>
                <a:cs typeface="Calibri"/>
              </a:rPr>
              <a:t>cliente</a:t>
            </a:r>
            <a:r>
              <a:rPr sz="2100" b="0" dirty="0">
                <a:solidFill>
                  <a:srgbClr val="242B35"/>
                </a:solidFill>
                <a:latin typeface="Calibri"/>
                <a:ea typeface="Calibri"/>
                <a:cs typeface="Calibri"/>
              </a:rPr>
              <a:t>.</a:t>
            </a:r>
          </a:p>
        </p:txBody>
      </p:sp>
    </p:spTree>
    <p:extLst>
      <p:ext uri="{BB962C8B-B14F-4D97-AF65-F5344CB8AC3E}">
        <p14:creationId xmlns:p14="http://schemas.microsoft.com/office/powerpoint/2010/main" val="1182457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ítulo">
            <a:extLst>
              <a:ext uri="{FF2B5EF4-FFF2-40B4-BE49-F238E27FC236}">
                <a16:creationId xmlns:a16="http://schemas.microsoft.com/office/drawing/2014/main" id="{60E2224C-3B9C-4CC0-83E0-1F653C289129}"/>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Funciones del asistente de IA</a:t>
            </a:r>
          </a:p>
        </p:txBody>
      </p:sp>
      <p:sp>
        <p:nvSpPr>
          <p:cNvPr id="2" name="Número">
            <a:extLst>
              <a:ext uri="{FF2B5EF4-FFF2-40B4-BE49-F238E27FC236}">
                <a16:creationId xmlns:a16="http://schemas.microsoft.com/office/drawing/2014/main" id="{B41C5089-213D-4608-A2D0-CA9AF8A61671}"/>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5</a:t>
            </a:r>
          </a:p>
        </p:txBody>
      </p:sp>
      <p:sp>
        <p:nvSpPr>
          <p:cNvPr id="3" name="Resumen del caso">
            <a:extLst>
              <a:ext uri="{FF2B5EF4-FFF2-40B4-BE49-F238E27FC236}">
                <a16:creationId xmlns:a16="http://schemas.microsoft.com/office/drawing/2014/main" id="{81038D52-9596-4EA0-A363-6C34D45FD1D8}"/>
              </a:ext>
            </a:extLst>
          </p:cNvPr>
          <p:cNvSpPr>
            <a:spLocks noGrp="1"/>
          </p:cNvSpPr>
          <p:nvPr/>
        </p:nvSpPr>
        <p:spPr>
          <a:xfrm>
            <a:off x="685800" y="1562100"/>
            <a:ext cx="3152775" cy="7239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Resumen del caso</a:t>
            </a:r>
          </a:p>
        </p:txBody>
      </p:sp>
      <p:sp>
        <p:nvSpPr>
          <p:cNvPr id="4" name="Reúne los antecedentes para recuperar el cont">
            <a:extLst>
              <a:ext uri="{FF2B5EF4-FFF2-40B4-BE49-F238E27FC236}">
                <a16:creationId xmlns:a16="http://schemas.microsoft.com/office/drawing/2014/main" id="{04A397F0-85BD-4044-A6B8-A8623E4B204C}"/>
              </a:ext>
            </a:extLst>
          </p:cNvPr>
          <p:cNvSpPr>
            <a:spLocks noGrp="1"/>
          </p:cNvSpPr>
          <p:nvPr/>
        </p:nvSpPr>
        <p:spPr>
          <a:xfrm>
            <a:off x="4067175" y="1562100"/>
            <a:ext cx="7439025" cy="7239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Reúne los antecedentes para recuperar el contexto del cliente.</a:t>
            </a:r>
          </a:p>
        </p:txBody>
      </p:sp>
      <p:sp>
        <p:nvSpPr>
          <p:cNvPr id="5" name="Próxima acción">
            <a:extLst>
              <a:ext uri="{FF2B5EF4-FFF2-40B4-BE49-F238E27FC236}">
                <a16:creationId xmlns:a16="http://schemas.microsoft.com/office/drawing/2014/main" id="{286FA7B2-D1A6-4E47-B15F-C2535753843B}"/>
              </a:ext>
            </a:extLst>
          </p:cNvPr>
          <p:cNvSpPr>
            <a:spLocks noGrp="1"/>
          </p:cNvSpPr>
          <p:nvPr/>
        </p:nvSpPr>
        <p:spPr>
          <a:xfrm>
            <a:off x="685800" y="2571750"/>
            <a:ext cx="3152775" cy="7239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Próxima acción</a:t>
            </a:r>
          </a:p>
        </p:txBody>
      </p:sp>
      <p:sp>
        <p:nvSpPr>
          <p:cNvPr id="6" name="Sugiere cómo continuar según la información y">
            <a:extLst>
              <a:ext uri="{FF2B5EF4-FFF2-40B4-BE49-F238E27FC236}">
                <a16:creationId xmlns:a16="http://schemas.microsoft.com/office/drawing/2014/main" id="{3C620725-01DD-4DAA-8BA6-EE2B68E1B2B7}"/>
              </a:ext>
            </a:extLst>
          </p:cNvPr>
          <p:cNvSpPr>
            <a:spLocks noGrp="1"/>
          </p:cNvSpPr>
          <p:nvPr/>
        </p:nvSpPr>
        <p:spPr>
          <a:xfrm>
            <a:off x="4067175" y="2571750"/>
            <a:ext cx="7439025" cy="7239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Sugiere cómo continuar según la información y las tareas registradas.</a:t>
            </a:r>
          </a:p>
        </p:txBody>
      </p:sp>
      <p:sp>
        <p:nvSpPr>
          <p:cNvPr id="7" name="Borrador de seguimiento">
            <a:extLst>
              <a:ext uri="{FF2B5EF4-FFF2-40B4-BE49-F238E27FC236}">
                <a16:creationId xmlns:a16="http://schemas.microsoft.com/office/drawing/2014/main" id="{6AE77BF7-1FF7-48D1-BE0A-0115FDBD7D09}"/>
              </a:ext>
            </a:extLst>
          </p:cNvPr>
          <p:cNvSpPr>
            <a:spLocks noGrp="1"/>
          </p:cNvSpPr>
          <p:nvPr/>
        </p:nvSpPr>
        <p:spPr>
          <a:xfrm>
            <a:off x="685800" y="3581400"/>
            <a:ext cx="3152775" cy="7239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Borrador de seguimiento</a:t>
            </a:r>
          </a:p>
        </p:txBody>
      </p:sp>
      <p:sp>
        <p:nvSpPr>
          <p:cNvPr id="8" name="Prepara un mensaje que el ejecutivo puede rev">
            <a:extLst>
              <a:ext uri="{FF2B5EF4-FFF2-40B4-BE49-F238E27FC236}">
                <a16:creationId xmlns:a16="http://schemas.microsoft.com/office/drawing/2014/main" id="{8A301352-FFB4-4C50-B21E-4307B2F69587}"/>
              </a:ext>
            </a:extLst>
          </p:cNvPr>
          <p:cNvSpPr>
            <a:spLocks noGrp="1"/>
          </p:cNvSpPr>
          <p:nvPr/>
        </p:nvSpPr>
        <p:spPr>
          <a:xfrm>
            <a:off x="4067175" y="3581400"/>
            <a:ext cx="7439025" cy="7239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Prepara un mensaje que el ejecutivo puede revisar, editar y copiar.</a:t>
            </a:r>
          </a:p>
        </p:txBody>
      </p:sp>
      <p:sp>
        <p:nvSpPr>
          <p:cNvPr id="9" name="Preguntas pendientes">
            <a:extLst>
              <a:ext uri="{FF2B5EF4-FFF2-40B4-BE49-F238E27FC236}">
                <a16:creationId xmlns:a16="http://schemas.microsoft.com/office/drawing/2014/main" id="{BB55EA0E-1B2A-4EA9-B88C-4579C5B9C74E}"/>
              </a:ext>
            </a:extLst>
          </p:cNvPr>
          <p:cNvSpPr>
            <a:spLocks noGrp="1"/>
          </p:cNvSpPr>
          <p:nvPr/>
        </p:nvSpPr>
        <p:spPr>
          <a:xfrm>
            <a:off x="685800" y="4591050"/>
            <a:ext cx="3152775" cy="7239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Preguntas pendientes</a:t>
            </a:r>
          </a:p>
        </p:txBody>
      </p:sp>
      <p:sp>
        <p:nvSpPr>
          <p:cNvPr id="10" name="Propone qué aclarar cuando faltan requisitos ">
            <a:extLst>
              <a:ext uri="{FF2B5EF4-FFF2-40B4-BE49-F238E27FC236}">
                <a16:creationId xmlns:a16="http://schemas.microsoft.com/office/drawing/2014/main" id="{EE48072A-D11F-4779-8984-BEF8D2D1592C}"/>
              </a:ext>
            </a:extLst>
          </p:cNvPr>
          <p:cNvSpPr>
            <a:spLocks noGrp="1"/>
          </p:cNvSpPr>
          <p:nvPr/>
        </p:nvSpPr>
        <p:spPr>
          <a:xfrm>
            <a:off x="4067175" y="4591050"/>
            <a:ext cx="7439025" cy="7239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Propone qué aclarar cuando faltan requisitos o existen contradicciones.</a:t>
            </a:r>
          </a:p>
        </p:txBody>
      </p:sp>
      <p:sp>
        <p:nvSpPr>
          <p:cNvPr id="11" name="El ejecutivo revisa el resultado antes de usa">
            <a:extLst>
              <a:ext uri="{FF2B5EF4-FFF2-40B4-BE49-F238E27FC236}">
                <a16:creationId xmlns:a16="http://schemas.microsoft.com/office/drawing/2014/main" id="{3F93496A-7FAD-456D-837B-03158DCB51BC}"/>
              </a:ext>
            </a:extLst>
          </p:cNvPr>
          <p:cNvSpPr>
            <a:spLocks noGrp="1"/>
          </p:cNvSpPr>
          <p:nvPr/>
        </p:nvSpPr>
        <p:spPr>
          <a:xfrm>
            <a:off x="685800" y="5829300"/>
            <a:ext cx="10572750" cy="428625"/>
          </a:xfrm>
          <a:prstGeom prst="rect">
            <a:avLst/>
          </a:prstGeom>
          <a:noFill/>
          <a:ln w="0">
            <a:noFill/>
            <a:prstDash val="solid"/>
          </a:ln>
        </p:spPr>
        <p:txBody>
          <a:bodyPr wrap="square" lIns="0" tIns="0" rIns="0" bIns="0" anchor="t">
            <a:noAutofit/>
          </a:bodyPr>
          <a:lstStyle>
            <a:defPPr algn="l">
              <a:defRPr sz="2250" b="1">
                <a:solidFill>
                  <a:srgbClr val="223D69"/>
                </a:solidFill>
                <a:latin typeface="Calibri"/>
                <a:ea typeface="Calibri"/>
                <a:cs typeface="Calibri"/>
              </a:defRPr>
            </a:defPPr>
          </a:lstStyle>
          <a:p>
            <a:pPr algn="l">
              <a:defRPr sz="2250" b="1">
                <a:solidFill>
                  <a:srgbClr val="223D69"/>
                </a:solidFill>
                <a:latin typeface="Calibri"/>
                <a:ea typeface="Calibri"/>
                <a:cs typeface="Calibri"/>
              </a:defRPr>
            </a:pPr>
            <a:r>
              <a:rPr sz="2250" b="1">
                <a:solidFill>
                  <a:srgbClr val="223D69"/>
                </a:solidFill>
                <a:latin typeface="Calibri"/>
                <a:ea typeface="Calibri"/>
                <a:cs typeface="Calibri"/>
              </a:rPr>
              <a:t>El ejecutivo revisa el resultado antes de usarlo.</a:t>
            </a:r>
          </a:p>
        </p:txBody>
      </p:sp>
    </p:spTree>
    <p:extLst>
      <p:ext uri="{BB962C8B-B14F-4D97-AF65-F5344CB8AC3E}">
        <p14:creationId xmlns:p14="http://schemas.microsoft.com/office/powerpoint/2010/main" val="1801836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ítulo">
            <a:extLst>
              <a:ext uri="{FF2B5EF4-FFF2-40B4-BE49-F238E27FC236}">
                <a16:creationId xmlns:a16="http://schemas.microsoft.com/office/drawing/2014/main" id="{44FEDDFA-F21F-4E11-A48A-D9224DB00E2B}"/>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Un caso de la evaluación de IA</a:t>
            </a:r>
          </a:p>
        </p:txBody>
      </p:sp>
      <p:sp>
        <p:nvSpPr>
          <p:cNvPr id="2" name="Número">
            <a:extLst>
              <a:ext uri="{FF2B5EF4-FFF2-40B4-BE49-F238E27FC236}">
                <a16:creationId xmlns:a16="http://schemas.microsoft.com/office/drawing/2014/main" id="{99404930-70A9-48D8-8BDC-7545154C3E68}"/>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6</a:t>
            </a:r>
          </a:p>
        </p:txBody>
      </p:sp>
      <p:sp>
        <p:nvSpPr>
          <p:cNvPr id="3" name="Datos registrados">
            <a:extLst>
              <a:ext uri="{FF2B5EF4-FFF2-40B4-BE49-F238E27FC236}">
                <a16:creationId xmlns:a16="http://schemas.microsoft.com/office/drawing/2014/main" id="{869CAF6A-9C45-43B1-B348-EA4B72E0C9D6}"/>
              </a:ext>
            </a:extLst>
          </p:cNvPr>
          <p:cNvSpPr>
            <a:spLocks noGrp="1"/>
          </p:cNvSpPr>
          <p:nvPr/>
        </p:nvSpPr>
        <p:spPr>
          <a:xfrm>
            <a:off x="685800" y="1562100"/>
            <a:ext cx="4191000" cy="438150"/>
          </a:xfrm>
          <a:prstGeom prst="rect">
            <a:avLst/>
          </a:prstGeom>
          <a:noFill/>
          <a:ln w="0">
            <a:noFill/>
            <a:prstDash val="solid"/>
          </a:ln>
        </p:spPr>
        <p:txBody>
          <a:bodyPr wrap="square" lIns="0" tIns="0" rIns="0" bIns="0" anchor="t">
            <a:noAutofit/>
          </a:bodyPr>
          <a:lstStyle>
            <a:defPPr algn="l">
              <a:defRPr sz="2325" b="1">
                <a:solidFill>
                  <a:srgbClr val="223D69"/>
                </a:solidFill>
                <a:latin typeface="Calibri"/>
                <a:ea typeface="Calibri"/>
                <a:cs typeface="Calibri"/>
              </a:defRPr>
            </a:defPPr>
          </a:lstStyle>
          <a:p>
            <a:pPr algn="l">
              <a:defRPr sz="2325" b="1">
                <a:solidFill>
                  <a:srgbClr val="223D69"/>
                </a:solidFill>
                <a:latin typeface="Calibri"/>
                <a:ea typeface="Calibri"/>
                <a:cs typeface="Calibri"/>
              </a:defRPr>
            </a:pPr>
            <a:r>
              <a:rPr sz="2325" b="1">
                <a:solidFill>
                  <a:srgbClr val="223D69"/>
                </a:solidFill>
                <a:latin typeface="Calibri"/>
                <a:ea typeface="Calibri"/>
                <a:cs typeface="Calibri"/>
              </a:rPr>
              <a:t>Datos registrados</a:t>
            </a:r>
          </a:p>
        </p:txBody>
      </p:sp>
      <p:sp>
        <p:nvSpPr>
          <p:cNvPr id="4" name="Casa en La Reina&#10;6.000 a 7.500 UF&#10;3 dormitori">
            <a:extLst>
              <a:ext uri="{FF2B5EF4-FFF2-40B4-BE49-F238E27FC236}">
                <a16:creationId xmlns:a16="http://schemas.microsoft.com/office/drawing/2014/main" id="{B656BFA2-E92A-427B-80AA-3450DB4696D1}"/>
              </a:ext>
            </a:extLst>
          </p:cNvPr>
          <p:cNvSpPr>
            <a:spLocks noGrp="1"/>
          </p:cNvSpPr>
          <p:nvPr/>
        </p:nvSpPr>
        <p:spPr>
          <a:xfrm>
            <a:off x="685800" y="2133600"/>
            <a:ext cx="4095750" cy="1381125"/>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Casa en La Reina</a:t>
            </a:r>
          </a:p>
          <a:p>
            <a:pPr algn="l">
              <a:defRPr sz="2250" b="0">
                <a:solidFill>
                  <a:srgbClr val="242B35"/>
                </a:solidFill>
                <a:latin typeface="Calibri"/>
                <a:ea typeface="Calibri"/>
                <a:cs typeface="Calibri"/>
              </a:defRPr>
            </a:pPr>
            <a:r>
              <a:rPr sz="2250" b="0">
                <a:solidFill>
                  <a:srgbClr val="242B35"/>
                </a:solidFill>
                <a:latin typeface="Calibri"/>
                <a:ea typeface="Calibri"/>
                <a:cs typeface="Calibri"/>
              </a:rPr>
              <a:t>6.000 a 7.500 UF</a:t>
            </a:r>
          </a:p>
          <a:p>
            <a:pPr algn="l">
              <a:defRPr sz="2250" b="0">
                <a:solidFill>
                  <a:srgbClr val="242B35"/>
                </a:solidFill>
                <a:latin typeface="Calibri"/>
                <a:ea typeface="Calibri"/>
                <a:cs typeface="Calibri"/>
              </a:defRPr>
            </a:pPr>
            <a:r>
              <a:rPr sz="2250" b="0">
                <a:solidFill>
                  <a:srgbClr val="242B35"/>
                </a:solidFill>
                <a:latin typeface="Calibri"/>
                <a:ea typeface="Calibri"/>
                <a:cs typeface="Calibri"/>
              </a:rPr>
              <a:t>3 dormitorios y 2 baños</a:t>
            </a:r>
          </a:p>
        </p:txBody>
      </p:sp>
      <p:sp>
        <p:nvSpPr>
          <p:cNvPr id="5" name="Pendiente en una tarea">
            <a:extLst>
              <a:ext uri="{FF2B5EF4-FFF2-40B4-BE49-F238E27FC236}">
                <a16:creationId xmlns:a16="http://schemas.microsoft.com/office/drawing/2014/main" id="{E82865A7-0850-4AD9-BD5B-71F1D73B060E}"/>
              </a:ext>
            </a:extLst>
          </p:cNvPr>
          <p:cNvSpPr>
            <a:spLocks noGrp="1"/>
          </p:cNvSpPr>
          <p:nvPr/>
        </p:nvSpPr>
        <p:spPr>
          <a:xfrm>
            <a:off x="685800" y="3962400"/>
            <a:ext cx="4191000" cy="400050"/>
          </a:xfrm>
          <a:prstGeom prst="rect">
            <a:avLst/>
          </a:prstGeom>
          <a:noFill/>
          <a:ln w="0">
            <a:noFill/>
            <a:prstDash val="solid"/>
          </a:ln>
        </p:spPr>
        <p:txBody>
          <a:bodyPr wrap="square" lIns="0" tIns="0" rIns="0" bIns="0" anchor="t">
            <a:noAutofit/>
          </a:bodyPr>
          <a:lstStyle>
            <a:defPPr algn="l">
              <a:defRPr sz="2100" b="1">
                <a:solidFill>
                  <a:srgbClr val="223D69"/>
                </a:solidFill>
                <a:latin typeface="Calibri"/>
                <a:ea typeface="Calibri"/>
                <a:cs typeface="Calibri"/>
              </a:defRPr>
            </a:defPPr>
          </a:lstStyle>
          <a:p>
            <a:pPr algn="l">
              <a:defRPr sz="2100" b="1">
                <a:solidFill>
                  <a:srgbClr val="223D69"/>
                </a:solidFill>
                <a:latin typeface="Calibri"/>
                <a:ea typeface="Calibri"/>
                <a:cs typeface="Calibri"/>
              </a:defRPr>
            </a:pPr>
            <a:r>
              <a:rPr sz="2100" b="1">
                <a:solidFill>
                  <a:srgbClr val="223D69"/>
                </a:solidFill>
                <a:latin typeface="Calibri"/>
                <a:ea typeface="Calibri"/>
                <a:cs typeface="Calibri"/>
              </a:rPr>
              <a:t>Pendiente en una tarea</a:t>
            </a:r>
          </a:p>
        </p:txBody>
      </p:sp>
      <p:sp>
        <p:nvSpPr>
          <p:cNvPr id="6" name="Confirmar estacionamientos&#10;y superficie de te">
            <a:extLst>
              <a:ext uri="{FF2B5EF4-FFF2-40B4-BE49-F238E27FC236}">
                <a16:creationId xmlns:a16="http://schemas.microsoft.com/office/drawing/2014/main" id="{883444F6-3471-483D-BD8A-F17AC0E961D7}"/>
              </a:ext>
            </a:extLst>
          </p:cNvPr>
          <p:cNvSpPr>
            <a:spLocks noGrp="1"/>
          </p:cNvSpPr>
          <p:nvPr/>
        </p:nvSpPr>
        <p:spPr>
          <a:xfrm>
            <a:off x="685800" y="4476750"/>
            <a:ext cx="4191000" cy="104775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Confirmar estacionamientos</a:t>
            </a:r>
          </a:p>
          <a:p>
            <a:pPr algn="l">
              <a:defRPr sz="2250" b="0">
                <a:solidFill>
                  <a:srgbClr val="242B35"/>
                </a:solidFill>
                <a:latin typeface="Calibri"/>
                <a:ea typeface="Calibri"/>
                <a:cs typeface="Calibri"/>
              </a:defRPr>
            </a:pPr>
            <a:r>
              <a:rPr sz="2250" b="0">
                <a:solidFill>
                  <a:srgbClr val="242B35"/>
                </a:solidFill>
                <a:latin typeface="Calibri"/>
                <a:ea typeface="Calibri"/>
                <a:cs typeface="Calibri"/>
              </a:rPr>
              <a:t>y superficie de terreno.</a:t>
            </a:r>
          </a:p>
        </p:txBody>
      </p:sp>
      <p:sp>
        <p:nvSpPr>
          <p:cNvPr id="7" name="Preguntas del modelo">
            <a:extLst>
              <a:ext uri="{FF2B5EF4-FFF2-40B4-BE49-F238E27FC236}">
                <a16:creationId xmlns:a16="http://schemas.microsoft.com/office/drawing/2014/main" id="{1C960019-7E2E-47F0-8C43-99E99482AFDB}"/>
              </a:ext>
            </a:extLst>
          </p:cNvPr>
          <p:cNvSpPr>
            <a:spLocks noGrp="1"/>
          </p:cNvSpPr>
          <p:nvPr/>
        </p:nvSpPr>
        <p:spPr>
          <a:xfrm>
            <a:off x="5905500" y="1562100"/>
            <a:ext cx="5524500" cy="438150"/>
          </a:xfrm>
          <a:prstGeom prst="rect">
            <a:avLst/>
          </a:prstGeom>
          <a:noFill/>
          <a:ln w="0">
            <a:noFill/>
            <a:prstDash val="solid"/>
          </a:ln>
        </p:spPr>
        <p:txBody>
          <a:bodyPr wrap="square" lIns="0" tIns="0" rIns="0" bIns="0" anchor="t">
            <a:noAutofit/>
          </a:bodyPr>
          <a:lstStyle>
            <a:defPPr algn="l">
              <a:defRPr sz="2325" b="1">
                <a:solidFill>
                  <a:srgbClr val="223D69"/>
                </a:solidFill>
                <a:latin typeface="Calibri"/>
                <a:ea typeface="Calibri"/>
                <a:cs typeface="Calibri"/>
              </a:defRPr>
            </a:defPPr>
          </a:lstStyle>
          <a:p>
            <a:pPr algn="l">
              <a:defRPr sz="2325" b="1">
                <a:solidFill>
                  <a:srgbClr val="223D69"/>
                </a:solidFill>
                <a:latin typeface="Calibri"/>
                <a:ea typeface="Calibri"/>
                <a:cs typeface="Calibri"/>
              </a:defRPr>
            </a:pPr>
            <a:r>
              <a:rPr sz="2325" b="1">
                <a:solidFill>
                  <a:srgbClr val="223D69"/>
                </a:solidFill>
                <a:latin typeface="Calibri"/>
                <a:ea typeface="Calibri"/>
                <a:cs typeface="Calibri"/>
              </a:rPr>
              <a:t>Preguntas del modelo</a:t>
            </a:r>
          </a:p>
        </p:txBody>
      </p:sp>
      <p:sp>
        <p:nvSpPr>
          <p:cNvPr id="8" name="“¿Tiene algún requisito de estacionamientos?&#10;">
            <a:extLst>
              <a:ext uri="{FF2B5EF4-FFF2-40B4-BE49-F238E27FC236}">
                <a16:creationId xmlns:a16="http://schemas.microsoft.com/office/drawing/2014/main" id="{E4979F3C-9AA8-4795-854F-69B8F05EC27D}"/>
              </a:ext>
            </a:extLst>
          </p:cNvPr>
          <p:cNvSpPr>
            <a:spLocks noGrp="1"/>
          </p:cNvSpPr>
          <p:nvPr/>
        </p:nvSpPr>
        <p:spPr>
          <a:xfrm>
            <a:off x="5905500" y="2266950"/>
            <a:ext cx="5524500" cy="2381250"/>
          </a:xfrm>
          <a:prstGeom prst="rect">
            <a:avLst/>
          </a:prstGeom>
          <a:noFill/>
          <a:ln w="0">
            <a:noFill/>
            <a:prstDash val="solid"/>
          </a:ln>
        </p:spPr>
        <p:txBody>
          <a:bodyPr wrap="square" lIns="0" tIns="0" rIns="0" bIns="0" anchor="t">
            <a:noAutofit/>
          </a:bodyPr>
          <a:lstStyle>
            <a:defPPr algn="l">
              <a:defRPr sz="2625" b="0">
                <a:solidFill>
                  <a:srgbClr val="242B35"/>
                </a:solidFill>
                <a:latin typeface="Calibri"/>
                <a:ea typeface="Calibri"/>
                <a:cs typeface="Calibri"/>
              </a:defRPr>
            </a:defPPr>
          </a:lstStyle>
          <a:p>
            <a:pPr algn="l">
              <a:defRPr sz="2625" b="0">
                <a:solidFill>
                  <a:srgbClr val="242B35"/>
                </a:solidFill>
                <a:latin typeface="Calibri"/>
                <a:ea typeface="Calibri"/>
                <a:cs typeface="Calibri"/>
              </a:defRPr>
            </a:pPr>
            <a:r>
              <a:rPr sz="2625" b="0">
                <a:solidFill>
                  <a:srgbClr val="242B35"/>
                </a:solidFill>
                <a:latin typeface="Calibri"/>
                <a:ea typeface="Calibri"/>
                <a:cs typeface="Calibri"/>
              </a:rPr>
              <a:t>“¿Tiene algún requisito de estacionamientos?</a:t>
            </a:r>
          </a:p>
          <a:p>
            <a:endParaRPr sz="2625" b="0">
              <a:solidFill>
                <a:srgbClr val="242B35"/>
              </a:solidFill>
              <a:latin typeface="Calibri"/>
              <a:ea typeface="Calibri"/>
              <a:cs typeface="Calibri"/>
            </a:endParaRPr>
          </a:p>
          <a:p>
            <a:pPr algn="l">
              <a:defRPr sz="2625" b="0">
                <a:solidFill>
                  <a:srgbClr val="242B35"/>
                </a:solidFill>
                <a:latin typeface="Calibri"/>
                <a:ea typeface="Calibri"/>
                <a:cs typeface="Calibri"/>
              </a:defRPr>
            </a:pPr>
            <a:r>
              <a:rPr sz="2625" b="0">
                <a:solidFill>
                  <a:srgbClr val="242B35"/>
                </a:solidFill>
                <a:latin typeface="Calibri"/>
                <a:ea typeface="Calibri"/>
                <a:cs typeface="Calibri"/>
              </a:rPr>
              <a:t>¿Qué superficie de terreno busca, si tiene una preferencia?”</a:t>
            </a:r>
          </a:p>
        </p:txBody>
      </p:sp>
      <p:sp>
        <p:nvSpPr>
          <p:cNvPr id="9" name="Consideró el pendiente aunque los campos bási">
            <a:extLst>
              <a:ext uri="{FF2B5EF4-FFF2-40B4-BE49-F238E27FC236}">
                <a16:creationId xmlns:a16="http://schemas.microsoft.com/office/drawing/2014/main" id="{72218CFA-8005-4B4A-AA7F-66F302AB0FAF}"/>
              </a:ext>
            </a:extLst>
          </p:cNvPr>
          <p:cNvSpPr>
            <a:spLocks noGrp="1"/>
          </p:cNvSpPr>
          <p:nvPr/>
        </p:nvSpPr>
        <p:spPr>
          <a:xfrm>
            <a:off x="5905500" y="5067300"/>
            <a:ext cx="5429250" cy="809625"/>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Consideró el pendiente aunque los campos básicos estaban completos.</a:t>
            </a:r>
          </a:p>
        </p:txBody>
      </p:sp>
    </p:spTree>
    <p:extLst>
      <p:ext uri="{BB962C8B-B14F-4D97-AF65-F5344CB8AC3E}">
        <p14:creationId xmlns:p14="http://schemas.microsoft.com/office/powerpoint/2010/main" val="97740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ítulo">
            <a:extLst>
              <a:ext uri="{FF2B5EF4-FFF2-40B4-BE49-F238E27FC236}">
                <a16:creationId xmlns:a16="http://schemas.microsoft.com/office/drawing/2014/main" id="{666CBB89-1C7B-4CD7-A86C-7B59B6A4F282}"/>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De una recomendación a una tarea</a:t>
            </a:r>
          </a:p>
        </p:txBody>
      </p:sp>
      <p:sp>
        <p:nvSpPr>
          <p:cNvPr id="2" name="Número">
            <a:extLst>
              <a:ext uri="{FF2B5EF4-FFF2-40B4-BE49-F238E27FC236}">
                <a16:creationId xmlns:a16="http://schemas.microsoft.com/office/drawing/2014/main" id="{201393CD-FC54-42FA-9A88-C99A4788EEEF}"/>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7</a:t>
            </a:r>
          </a:p>
        </p:txBody>
      </p:sp>
      <p:sp>
        <p:nvSpPr>
          <p:cNvPr id="3" name="El ejecutivo revisa las tareas pendientes ant">
            <a:extLst>
              <a:ext uri="{FF2B5EF4-FFF2-40B4-BE49-F238E27FC236}">
                <a16:creationId xmlns:a16="http://schemas.microsoft.com/office/drawing/2014/main" id="{BFAC3464-2E65-4C77-A77B-05D07CD40DFF}"/>
              </a:ext>
            </a:extLst>
          </p:cNvPr>
          <p:cNvSpPr>
            <a:spLocks noGrp="1"/>
          </p:cNvSpPr>
          <p:nvPr/>
        </p:nvSpPr>
        <p:spPr>
          <a:xfrm>
            <a:off x="685800" y="1600200"/>
            <a:ext cx="4286250" cy="952500"/>
          </a:xfrm>
          <a:prstGeom prst="rect">
            <a:avLst/>
          </a:prstGeom>
          <a:noFill/>
          <a:ln w="0">
            <a:noFill/>
            <a:prstDash val="solid"/>
          </a:ln>
        </p:spPr>
        <p:txBody>
          <a:bodyPr wrap="square" lIns="0" tIns="0" rIns="0" bIns="0" anchor="t">
            <a:noAutofit/>
          </a:bodyPr>
          <a:lstStyle>
            <a:defPPr algn="l">
              <a:defRPr sz="2475" b="1">
                <a:solidFill>
                  <a:srgbClr val="223D69"/>
                </a:solidFill>
                <a:latin typeface="Calibri"/>
                <a:ea typeface="Calibri"/>
                <a:cs typeface="Calibri"/>
              </a:defRPr>
            </a:defPPr>
          </a:lstStyle>
          <a:p>
            <a:pPr algn="l">
              <a:defRPr sz="2475" b="1">
                <a:solidFill>
                  <a:srgbClr val="223D69"/>
                </a:solidFill>
                <a:latin typeface="Calibri"/>
                <a:ea typeface="Calibri"/>
                <a:cs typeface="Calibri"/>
              </a:defRPr>
            </a:pPr>
            <a:r>
              <a:rPr sz="2475" b="1">
                <a:solidFill>
                  <a:srgbClr val="223D69"/>
                </a:solidFill>
                <a:latin typeface="Calibri"/>
                <a:ea typeface="Calibri"/>
                <a:cs typeface="Calibri"/>
              </a:rPr>
              <a:t>El ejecutivo revisa las tareas pendientes antes de guardar.</a:t>
            </a:r>
          </a:p>
        </p:txBody>
      </p:sp>
      <p:sp>
        <p:nvSpPr>
          <p:cNvPr id="4" name="Puede abrir una tarea existente y conservar s">
            <a:extLst>
              <a:ext uri="{FF2B5EF4-FFF2-40B4-BE49-F238E27FC236}">
                <a16:creationId xmlns:a16="http://schemas.microsoft.com/office/drawing/2014/main" id="{3F4B2DA2-EA19-438F-83C8-79E434FF9D11}"/>
              </a:ext>
            </a:extLst>
          </p:cNvPr>
          <p:cNvSpPr>
            <a:spLocks noGrp="1"/>
          </p:cNvSpPr>
          <p:nvPr/>
        </p:nvSpPr>
        <p:spPr>
          <a:xfrm>
            <a:off x="685800" y="2876550"/>
            <a:ext cx="4286250" cy="95250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Puede abrir una tarea existente y conservar sus datos.</a:t>
            </a:r>
          </a:p>
        </p:txBody>
      </p:sp>
      <p:sp>
        <p:nvSpPr>
          <p:cNvPr id="5" name="Decide el título, la prioridad y la fecha. Ca">
            <a:extLst>
              <a:ext uri="{FF2B5EF4-FFF2-40B4-BE49-F238E27FC236}">
                <a16:creationId xmlns:a16="http://schemas.microsoft.com/office/drawing/2014/main" id="{8F10F410-E627-4953-A9B5-7774B3BC0AA9}"/>
              </a:ext>
            </a:extLst>
          </p:cNvPr>
          <p:cNvSpPr>
            <a:spLocks noGrp="1"/>
          </p:cNvSpPr>
          <p:nvPr/>
        </p:nvSpPr>
        <p:spPr>
          <a:xfrm>
            <a:off x="685800" y="4248150"/>
            <a:ext cx="4286250" cy="123825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Decide el título, la prioridad y la fecha. Cancelar no guarda cambios.</a:t>
            </a:r>
          </a:p>
        </p:txBody>
      </p:sp>
      <p:pic>
        <p:nvPicPr>
          <p:cNvPr id="6" name="Imagen 5">
            <a:extLst>
              <a:ext uri="{FF2B5EF4-FFF2-40B4-BE49-F238E27FC236}">
                <a16:creationId xmlns:a16="http://schemas.microsoft.com/office/drawing/2014/main" id="{E297608E-45D7-4959-A484-81D1543CBE5F}"/>
              </a:ext>
            </a:extLst>
          </p:cNvPr>
          <p:cNvPicPr>
            <a:picLocks noChangeAspect="1"/>
          </p:cNvPicPr>
          <p:nvPr/>
        </p:nvPicPr>
        <p:blipFill>
          <a:blip r:embed="rId3"/>
          <a:srcRect l="64000" b="25000"/>
          <a:stretch/>
        </p:blipFill>
        <p:spPr>
          <a:xfrm>
            <a:off x="7048500" y="1409700"/>
            <a:ext cx="4019550" cy="4710410"/>
          </a:xfrm>
          <a:prstGeom prst="rect">
            <a:avLst/>
          </a:prstGeom>
        </p:spPr>
      </p:pic>
    </p:spTree>
    <p:extLst>
      <p:ext uri="{BB962C8B-B14F-4D97-AF65-F5344CB8AC3E}">
        <p14:creationId xmlns:p14="http://schemas.microsoft.com/office/powerpoint/2010/main" val="1888532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ítulo">
            <a:extLst>
              <a:ext uri="{FF2B5EF4-FFF2-40B4-BE49-F238E27FC236}">
                <a16:creationId xmlns:a16="http://schemas.microsoft.com/office/drawing/2014/main" id="{FE6DB440-5F5F-461C-8255-42EFC24DBA27}"/>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Arquitectura del prototipo</a:t>
            </a:r>
          </a:p>
        </p:txBody>
      </p:sp>
      <p:sp>
        <p:nvSpPr>
          <p:cNvPr id="2" name="Número">
            <a:extLst>
              <a:ext uri="{FF2B5EF4-FFF2-40B4-BE49-F238E27FC236}">
                <a16:creationId xmlns:a16="http://schemas.microsoft.com/office/drawing/2014/main" id="{37390EAC-6020-49BD-A7CB-AF38ED7F6791}"/>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8</a:t>
            </a:r>
          </a:p>
        </p:txBody>
      </p:sp>
      <p:graphicFrame>
        <p:nvGraphicFramePr>
          <p:cNvPr id="3" name="Tabla 2">
            <a:extLst>
              <a:ext uri="{FF2B5EF4-FFF2-40B4-BE49-F238E27FC236}">
                <a16:creationId xmlns:a16="http://schemas.microsoft.com/office/drawing/2014/main" id="{B17FD419-CAA4-4B01-8759-D833BBB80E77}"/>
              </a:ext>
            </a:extLst>
          </p:cNvPr>
          <p:cNvGraphicFramePr/>
          <p:nvPr/>
        </p:nvGraphicFramePr>
        <p:xfrm>
          <a:off x="685800" y="1581150"/>
          <a:ext cx="10820400" cy="3676650"/>
        </p:xfrm>
        <a:graphic>
          <a:graphicData uri="http://schemas.openxmlformats.org/drawingml/2006/table">
            <a:tbl>
              <a:tblPr/>
              <a:tblGrid>
                <a:gridCol w="2952750">
                  <a:extLst>
                    <a:ext uri="{9D8B030D-6E8A-4147-A177-3AD203B41FA5}">
                      <a16:colId xmlns:a16="http://schemas.microsoft.com/office/drawing/2014/main" val="20000"/>
                    </a:ext>
                  </a:extLst>
                </a:gridCol>
                <a:gridCol w="7867650">
                  <a:extLst>
                    <a:ext uri="{9D8B030D-6E8A-4147-A177-3AD203B41FA5}">
                      <a16:colId xmlns:a16="http://schemas.microsoft.com/office/drawing/2014/main" val="20001"/>
                    </a:ext>
                  </a:extLst>
                </a:gridCol>
              </a:tblGrid>
              <a:tr h="552450">
                <a:tc>
                  <a:txBody>
                    <a:bodyPr/>
                    <a:lstStyle/>
                    <a:p>
                      <a:r>
                        <a:rPr sz="2025" b="1">
                          <a:solidFill>
                            <a:srgbClr val="FFFFFF"/>
                          </a:solidFill>
                          <a:latin typeface="Calibri"/>
                          <a:ea typeface="Calibri"/>
                          <a:cs typeface="Calibri"/>
                        </a:rPr>
                        <a:t>Componente</a:t>
                      </a:r>
                    </a:p>
                  </a:txBody>
                  <a:tcPr anchor="ctr">
                    <a:lnL w="9525">
                      <a:solidFill>
                        <a:srgbClr val="D8DFE7"/>
                      </a:solidFill>
                      <a:prstDash val="solid"/>
                    </a:lnL>
                    <a:lnR w="9525">
                      <a:solidFill>
                        <a:srgbClr val="D8DFE7"/>
                      </a:solidFill>
                      <a:prstDash val="solid"/>
                    </a:lnR>
                    <a:lnT w="9525">
                      <a:solidFill>
                        <a:srgbClr val="D8DFE7"/>
                      </a:solidFill>
                      <a:prstDash val="solid"/>
                    </a:lnT>
                    <a:lnB w="9525">
                      <a:solidFill>
                        <a:srgbClr val="D8DFE7"/>
                      </a:solidFill>
                      <a:prstDash val="solid"/>
                    </a:lnB>
                    <a:solidFill>
                      <a:srgbClr val="223D69"/>
                    </a:solidFill>
                  </a:tcPr>
                </a:tc>
                <a:tc>
                  <a:txBody>
                    <a:bodyPr/>
                    <a:lstStyle/>
                    <a:p>
                      <a:r>
                        <a:rPr sz="2025" b="1">
                          <a:solidFill>
                            <a:srgbClr val="FFFFFF"/>
                          </a:solidFill>
                          <a:latin typeface="Calibri"/>
                          <a:ea typeface="Calibri"/>
                          <a:cs typeface="Calibri"/>
                        </a:rPr>
                        <a:t>Tecnología y función</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a:solidFill>
                        <a:srgbClr val="D8DFE7"/>
                      </a:solidFill>
                      <a:prstDash val="solid"/>
                    </a:lnT>
                    <a:lnB w="9525">
                      <a:solidFill>
                        <a:srgbClr val="D8DFE7"/>
                      </a:solidFill>
                      <a:prstDash val="solid"/>
                    </a:lnB>
                    <a:solidFill>
                      <a:srgbClr val="223D69"/>
                    </a:solidFill>
                  </a:tcPr>
                </a:tc>
                <a:extLst>
                  <a:ext uri="{0D108BD9-81ED-4DB2-BD59-A6C34878D82A}">
                    <a16:rowId xmlns:a16="http://schemas.microsoft.com/office/drawing/2014/main" val="10000"/>
                  </a:ext>
                </a:extLst>
              </a:tr>
              <a:tr h="781050">
                <a:tc>
                  <a:txBody>
                    <a:bodyPr/>
                    <a:lstStyle/>
                    <a:p>
                      <a:r>
                        <a:rPr sz="2025" b="0">
                          <a:solidFill>
                            <a:srgbClr val="242B35"/>
                          </a:solidFill>
                          <a:latin typeface="Calibri"/>
                          <a:ea typeface="Calibri"/>
                          <a:cs typeface="Calibri"/>
                        </a:rPr>
                        <a:t>Interfaz</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tc>
                  <a:txBody>
                    <a:bodyPr/>
                    <a:lstStyle/>
                    <a:p>
                      <a:r>
                        <a:rPr sz="2025" b="0">
                          <a:solidFill>
                            <a:srgbClr val="242B35"/>
                          </a:solidFill>
                          <a:latin typeface="Calibri"/>
                          <a:ea typeface="Calibri"/>
                          <a:cs typeface="Calibri"/>
                        </a:rPr>
                        <a:t>React. Consulta y edición de la información comercial.</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extLst>
                  <a:ext uri="{0D108BD9-81ED-4DB2-BD59-A6C34878D82A}">
                    <a16:rowId xmlns:a16="http://schemas.microsoft.com/office/drawing/2014/main" val="10001"/>
                  </a:ext>
                </a:extLst>
              </a:tr>
              <a:tr h="781050">
                <a:tc>
                  <a:txBody>
                    <a:bodyPr/>
                    <a:lstStyle/>
                    <a:p>
                      <a:r>
                        <a:rPr sz="2025" b="0">
                          <a:solidFill>
                            <a:srgbClr val="242B35"/>
                          </a:solidFill>
                          <a:latin typeface="Calibri"/>
                          <a:ea typeface="Calibri"/>
                          <a:cs typeface="Calibri"/>
                        </a:rPr>
                        <a:t>Backend</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tc>
                  <a:txBody>
                    <a:bodyPr/>
                    <a:lstStyle/>
                    <a:p>
                      <a:r>
                        <a:rPr sz="2025" b="0">
                          <a:solidFill>
                            <a:srgbClr val="242B35"/>
                          </a:solidFill>
                          <a:latin typeface="Calibri"/>
                          <a:ea typeface="Calibri"/>
                          <a:cs typeface="Calibri"/>
                        </a:rPr>
                        <a:t>Python, FastAPI y SQLAlchemy. Permisos y validaciones.</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extLst>
                  <a:ext uri="{0D108BD9-81ED-4DB2-BD59-A6C34878D82A}">
                    <a16:rowId xmlns:a16="http://schemas.microsoft.com/office/drawing/2014/main" val="10002"/>
                  </a:ext>
                </a:extLst>
              </a:tr>
              <a:tr h="781050">
                <a:tc>
                  <a:txBody>
                    <a:bodyPr/>
                    <a:lstStyle/>
                    <a:p>
                      <a:r>
                        <a:rPr sz="2025" b="0">
                          <a:solidFill>
                            <a:srgbClr val="242B35"/>
                          </a:solidFill>
                          <a:latin typeface="Calibri"/>
                          <a:ea typeface="Calibri"/>
                          <a:cs typeface="Calibri"/>
                        </a:rPr>
                        <a:t>Base de datos</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tc>
                  <a:txBody>
                    <a:bodyPr/>
                    <a:lstStyle/>
                    <a:p>
                      <a:r>
                        <a:rPr sz="2025" b="0">
                          <a:solidFill>
                            <a:srgbClr val="242B35"/>
                          </a:solidFill>
                          <a:latin typeface="Calibri"/>
                          <a:ea typeface="Calibri"/>
                          <a:cs typeface="Calibri"/>
                        </a:rPr>
                        <a:t>PostgreSQL en Supabase. Información e historial del CRM.</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extLst>
                  <a:ext uri="{0D108BD9-81ED-4DB2-BD59-A6C34878D82A}">
                    <a16:rowId xmlns:a16="http://schemas.microsoft.com/office/drawing/2014/main" val="10003"/>
                  </a:ext>
                </a:extLst>
              </a:tr>
              <a:tr h="781050">
                <a:tc>
                  <a:txBody>
                    <a:bodyPr/>
                    <a:lstStyle/>
                    <a:p>
                      <a:r>
                        <a:rPr sz="2025" b="0">
                          <a:solidFill>
                            <a:srgbClr val="242B35"/>
                          </a:solidFill>
                          <a:latin typeface="Calibri"/>
                          <a:ea typeface="Calibri"/>
                          <a:cs typeface="Calibri"/>
                        </a:rPr>
                        <a:t>Servicio de IA</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tc>
                  <a:txBody>
                    <a:bodyPr/>
                    <a:lstStyle/>
                    <a:p>
                      <a:r>
                        <a:rPr sz="2025" b="0">
                          <a:solidFill>
                            <a:srgbClr val="242B35"/>
                          </a:solidFill>
                          <a:latin typeface="Calibri"/>
                          <a:ea typeface="Calibri"/>
                          <a:cs typeface="Calibri"/>
                        </a:rPr>
                        <a:t>API externa. Generación de texto a partir del contexto.</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extLst>
                  <a:ext uri="{0D108BD9-81ED-4DB2-BD59-A6C34878D82A}">
                    <a16:rowId xmlns:a16="http://schemas.microsoft.com/office/drawing/2014/main" val="10004"/>
                  </a:ext>
                </a:extLst>
              </a:tr>
            </a:tbl>
          </a:graphicData>
        </a:graphic>
      </p:graphicFrame>
      <p:sp>
        <p:nvSpPr>
          <p:cNvPr id="4" name="Priorización y matching utilizan reglas expli">
            <a:extLst>
              <a:ext uri="{FF2B5EF4-FFF2-40B4-BE49-F238E27FC236}">
                <a16:creationId xmlns:a16="http://schemas.microsoft.com/office/drawing/2014/main" id="{52FD092A-17EB-400F-B2FF-4A1C34CC7326}"/>
              </a:ext>
            </a:extLst>
          </p:cNvPr>
          <p:cNvSpPr>
            <a:spLocks noGrp="1"/>
          </p:cNvSpPr>
          <p:nvPr/>
        </p:nvSpPr>
        <p:spPr>
          <a:xfrm>
            <a:off x="685800" y="5657850"/>
            <a:ext cx="10668000" cy="6096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dirty="0" err="1">
                <a:solidFill>
                  <a:srgbClr val="242B35"/>
                </a:solidFill>
                <a:latin typeface="Calibri"/>
                <a:ea typeface="Calibri"/>
                <a:cs typeface="Calibri"/>
              </a:rPr>
              <a:t>Priorización</a:t>
            </a:r>
            <a:r>
              <a:rPr sz="2100" b="0" dirty="0">
                <a:solidFill>
                  <a:srgbClr val="242B35"/>
                </a:solidFill>
                <a:latin typeface="Calibri"/>
                <a:ea typeface="Calibri"/>
                <a:cs typeface="Calibri"/>
              </a:rPr>
              <a:t> y matching </a:t>
            </a:r>
            <a:r>
              <a:rPr sz="2100" b="0" dirty="0" err="1">
                <a:solidFill>
                  <a:srgbClr val="242B35"/>
                </a:solidFill>
                <a:latin typeface="Calibri"/>
                <a:ea typeface="Calibri"/>
                <a:cs typeface="Calibri"/>
              </a:rPr>
              <a:t>utilizan</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reglas</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explicables</a:t>
            </a:r>
            <a:r>
              <a:rPr lang="es-MX" sz="2100" dirty="0">
                <a:solidFill>
                  <a:srgbClr val="242B35"/>
                </a:solidFill>
                <a:latin typeface="Calibri"/>
                <a:ea typeface="Calibri"/>
                <a:cs typeface="Calibri"/>
              </a:rPr>
              <a:t>,</a:t>
            </a:r>
            <a:r>
              <a:rPr sz="2100" b="0" dirty="0">
                <a:solidFill>
                  <a:srgbClr val="242B35"/>
                </a:solidFill>
                <a:latin typeface="Calibri"/>
                <a:ea typeface="Calibri"/>
                <a:cs typeface="Calibri"/>
              </a:rPr>
              <a:t> </a:t>
            </a:r>
            <a:r>
              <a:rPr lang="es-MX" sz="2100" dirty="0">
                <a:solidFill>
                  <a:srgbClr val="242B35"/>
                </a:solidFill>
                <a:latin typeface="Calibri"/>
                <a:ea typeface="Calibri"/>
                <a:cs typeface="Calibri"/>
              </a:rPr>
              <a:t>n</a:t>
            </a:r>
            <a:r>
              <a:rPr sz="2100" b="0" dirty="0">
                <a:solidFill>
                  <a:srgbClr val="242B35"/>
                </a:solidFill>
                <a:latin typeface="Calibri"/>
                <a:ea typeface="Calibri"/>
                <a:cs typeface="Calibri"/>
              </a:rPr>
              <a:t>o </a:t>
            </a:r>
            <a:r>
              <a:rPr sz="2100" b="0" dirty="0" err="1">
                <a:solidFill>
                  <a:srgbClr val="242B35"/>
                </a:solidFill>
                <a:latin typeface="Calibri"/>
                <a:ea typeface="Calibri"/>
                <a:cs typeface="Calibri"/>
              </a:rPr>
              <a:t>predicen</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una</a:t>
            </a:r>
            <a:r>
              <a:rPr sz="2100" b="0" dirty="0">
                <a:solidFill>
                  <a:srgbClr val="242B35"/>
                </a:solidFill>
                <a:latin typeface="Calibri"/>
                <a:ea typeface="Calibri"/>
                <a:cs typeface="Calibri"/>
              </a:rPr>
              <a:t> </a:t>
            </a:r>
            <a:r>
              <a:rPr sz="2100" b="0" dirty="0" err="1">
                <a:solidFill>
                  <a:srgbClr val="242B35"/>
                </a:solidFill>
                <a:latin typeface="Calibri"/>
                <a:ea typeface="Calibri"/>
                <a:cs typeface="Calibri"/>
              </a:rPr>
              <a:t>venta</a:t>
            </a:r>
            <a:r>
              <a:rPr sz="2100" b="0" dirty="0">
                <a:solidFill>
                  <a:srgbClr val="242B35"/>
                </a:solidFill>
                <a:latin typeface="Calibri"/>
                <a:ea typeface="Calibri"/>
                <a:cs typeface="Calibri"/>
              </a:rPr>
              <a:t>.</a:t>
            </a:r>
          </a:p>
        </p:txBody>
      </p:sp>
    </p:spTree>
    <p:extLst>
      <p:ext uri="{BB962C8B-B14F-4D97-AF65-F5344CB8AC3E}">
        <p14:creationId xmlns:p14="http://schemas.microsoft.com/office/powerpoint/2010/main" val="188126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ítulo">
            <a:extLst>
              <a:ext uri="{FF2B5EF4-FFF2-40B4-BE49-F238E27FC236}">
                <a16:creationId xmlns:a16="http://schemas.microsoft.com/office/drawing/2014/main" id="{EBC47598-0405-438C-A8E3-B905D58C7DE2}"/>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Permisos e historial de responsables</a:t>
            </a:r>
          </a:p>
        </p:txBody>
      </p:sp>
      <p:sp>
        <p:nvSpPr>
          <p:cNvPr id="2" name="Número">
            <a:extLst>
              <a:ext uri="{FF2B5EF4-FFF2-40B4-BE49-F238E27FC236}">
                <a16:creationId xmlns:a16="http://schemas.microsoft.com/office/drawing/2014/main" id="{794676AD-14D7-41BD-871D-3B6450955BCC}"/>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9</a:t>
            </a:r>
          </a:p>
        </p:txBody>
      </p:sp>
      <p:sp>
        <p:nvSpPr>
          <p:cNvPr id="3" name="Administración">
            <a:extLst>
              <a:ext uri="{FF2B5EF4-FFF2-40B4-BE49-F238E27FC236}">
                <a16:creationId xmlns:a16="http://schemas.microsoft.com/office/drawing/2014/main" id="{2406198C-5518-4CA4-9698-03DD374A047D}"/>
              </a:ext>
            </a:extLst>
          </p:cNvPr>
          <p:cNvSpPr>
            <a:spLocks noGrp="1"/>
          </p:cNvSpPr>
          <p:nvPr/>
        </p:nvSpPr>
        <p:spPr>
          <a:xfrm>
            <a:off x="685800" y="1619250"/>
            <a:ext cx="4095750" cy="428625"/>
          </a:xfrm>
          <a:prstGeom prst="rect">
            <a:avLst/>
          </a:prstGeom>
          <a:noFill/>
          <a:ln w="0">
            <a:noFill/>
            <a:prstDash val="solid"/>
          </a:ln>
        </p:spPr>
        <p:txBody>
          <a:bodyPr wrap="square" lIns="0" tIns="0" rIns="0" bIns="0" anchor="t">
            <a:noAutofit/>
          </a:bodyPr>
          <a:lstStyle>
            <a:defPPr algn="l">
              <a:defRPr sz="2325" b="1">
                <a:solidFill>
                  <a:srgbClr val="223D69"/>
                </a:solidFill>
                <a:latin typeface="Calibri"/>
                <a:ea typeface="Calibri"/>
                <a:cs typeface="Calibri"/>
              </a:defRPr>
            </a:defPPr>
          </a:lstStyle>
          <a:p>
            <a:pPr algn="l">
              <a:defRPr sz="2325" b="1">
                <a:solidFill>
                  <a:srgbClr val="223D69"/>
                </a:solidFill>
                <a:latin typeface="Calibri"/>
                <a:ea typeface="Calibri"/>
                <a:cs typeface="Calibri"/>
              </a:defRPr>
            </a:pPr>
            <a:r>
              <a:rPr sz="2325" b="1">
                <a:solidFill>
                  <a:srgbClr val="223D69"/>
                </a:solidFill>
                <a:latin typeface="Calibri"/>
                <a:ea typeface="Calibri"/>
                <a:cs typeface="Calibri"/>
              </a:rPr>
              <a:t>Administración</a:t>
            </a:r>
          </a:p>
        </p:txBody>
      </p:sp>
      <p:sp>
        <p:nvSpPr>
          <p:cNvPr id="4" name="Cambia el responsable y consulta el registro ">
            <a:extLst>
              <a:ext uri="{FF2B5EF4-FFF2-40B4-BE49-F238E27FC236}">
                <a16:creationId xmlns:a16="http://schemas.microsoft.com/office/drawing/2014/main" id="{78FCE736-86FE-46B9-ADF6-3C101C5E41EA}"/>
              </a:ext>
            </a:extLst>
          </p:cNvPr>
          <p:cNvSpPr>
            <a:spLocks noGrp="1"/>
          </p:cNvSpPr>
          <p:nvPr/>
        </p:nvSpPr>
        <p:spPr>
          <a:xfrm>
            <a:off x="685800" y="2171700"/>
            <a:ext cx="4191000" cy="104775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Cambia el responsable y consulta el registro general de Actividad.</a:t>
            </a:r>
          </a:p>
        </p:txBody>
      </p:sp>
      <p:sp>
        <p:nvSpPr>
          <p:cNvPr id="5" name="Ejecutivo">
            <a:extLst>
              <a:ext uri="{FF2B5EF4-FFF2-40B4-BE49-F238E27FC236}">
                <a16:creationId xmlns:a16="http://schemas.microsoft.com/office/drawing/2014/main" id="{DD10781D-5B98-4613-9EC7-9FA9E12DB35D}"/>
              </a:ext>
            </a:extLst>
          </p:cNvPr>
          <p:cNvSpPr>
            <a:spLocks noGrp="1"/>
          </p:cNvSpPr>
          <p:nvPr/>
        </p:nvSpPr>
        <p:spPr>
          <a:xfrm>
            <a:off x="685800" y="3695700"/>
            <a:ext cx="4095750" cy="428625"/>
          </a:xfrm>
          <a:prstGeom prst="rect">
            <a:avLst/>
          </a:prstGeom>
          <a:noFill/>
          <a:ln w="0">
            <a:noFill/>
            <a:prstDash val="solid"/>
          </a:ln>
        </p:spPr>
        <p:txBody>
          <a:bodyPr wrap="square" lIns="0" tIns="0" rIns="0" bIns="0" anchor="t">
            <a:noAutofit/>
          </a:bodyPr>
          <a:lstStyle>
            <a:defPPr algn="l">
              <a:defRPr sz="2325" b="1">
                <a:solidFill>
                  <a:srgbClr val="223D69"/>
                </a:solidFill>
                <a:latin typeface="Calibri"/>
                <a:ea typeface="Calibri"/>
                <a:cs typeface="Calibri"/>
              </a:defRPr>
            </a:defPPr>
          </a:lstStyle>
          <a:p>
            <a:pPr algn="l">
              <a:defRPr sz="2325" b="1">
                <a:solidFill>
                  <a:srgbClr val="223D69"/>
                </a:solidFill>
                <a:latin typeface="Calibri"/>
                <a:ea typeface="Calibri"/>
                <a:cs typeface="Calibri"/>
              </a:defRPr>
            </a:pPr>
            <a:r>
              <a:rPr sz="2325" b="1">
                <a:solidFill>
                  <a:srgbClr val="223D69"/>
                </a:solidFill>
                <a:latin typeface="Calibri"/>
                <a:ea typeface="Calibri"/>
                <a:cs typeface="Calibri"/>
              </a:rPr>
              <a:t>Ejecutivo</a:t>
            </a:r>
          </a:p>
        </p:txBody>
      </p:sp>
      <p:sp>
        <p:nvSpPr>
          <p:cNvPr id="6" name="Consulta el historial del lead, sin permiso p">
            <a:extLst>
              <a:ext uri="{FF2B5EF4-FFF2-40B4-BE49-F238E27FC236}">
                <a16:creationId xmlns:a16="http://schemas.microsoft.com/office/drawing/2014/main" id="{25DFF274-8CF3-482B-AF1D-CE30CCD68933}"/>
              </a:ext>
            </a:extLst>
          </p:cNvPr>
          <p:cNvSpPr>
            <a:spLocks noGrp="1"/>
          </p:cNvSpPr>
          <p:nvPr/>
        </p:nvSpPr>
        <p:spPr>
          <a:xfrm>
            <a:off x="685800" y="4248150"/>
            <a:ext cx="4191000" cy="1047750"/>
          </a:xfrm>
          <a:prstGeom prst="rect">
            <a:avLst/>
          </a:prstGeom>
          <a:noFill/>
          <a:ln w="0">
            <a:noFill/>
            <a:prstDash val="solid"/>
          </a:ln>
        </p:spPr>
        <p:txBody>
          <a:bodyPr wrap="square" lIns="0" tIns="0" rIns="0" bIns="0" anchor="t">
            <a:noAutofit/>
          </a:bodyPr>
          <a:lstStyle>
            <a:defPPr algn="l">
              <a:defRPr sz="2250" b="0">
                <a:solidFill>
                  <a:srgbClr val="242B35"/>
                </a:solidFill>
                <a:latin typeface="Calibri"/>
                <a:ea typeface="Calibri"/>
                <a:cs typeface="Calibri"/>
              </a:defRPr>
            </a:defPPr>
          </a:lstStyle>
          <a:p>
            <a:pPr algn="l">
              <a:defRPr sz="2250" b="0">
                <a:solidFill>
                  <a:srgbClr val="242B35"/>
                </a:solidFill>
                <a:latin typeface="Calibri"/>
                <a:ea typeface="Calibri"/>
                <a:cs typeface="Calibri"/>
              </a:defRPr>
            </a:pPr>
            <a:r>
              <a:rPr sz="2250" b="0">
                <a:solidFill>
                  <a:srgbClr val="242B35"/>
                </a:solidFill>
                <a:latin typeface="Calibri"/>
                <a:ea typeface="Calibri"/>
                <a:cs typeface="Calibri"/>
              </a:rPr>
              <a:t>Consulta el historial del lead, sin permiso para reasignarlo.</a:t>
            </a:r>
          </a:p>
        </p:txBody>
      </p:sp>
      <p:pic>
        <p:nvPicPr>
          <p:cNvPr id="7" name="Imagen 6">
            <a:extLst>
              <a:ext uri="{FF2B5EF4-FFF2-40B4-BE49-F238E27FC236}">
                <a16:creationId xmlns:a16="http://schemas.microsoft.com/office/drawing/2014/main" id="{68B85966-FAF4-4659-99BD-A963113EFB58}"/>
              </a:ext>
            </a:extLst>
          </p:cNvPr>
          <p:cNvPicPr>
            <a:picLocks noChangeAspect="1"/>
          </p:cNvPicPr>
          <p:nvPr/>
        </p:nvPicPr>
        <p:blipFill>
          <a:blip r:embed="rId3"/>
          <a:srcRect l="46000" t="28000" b="39000"/>
          <a:stretch/>
        </p:blipFill>
        <p:spPr>
          <a:xfrm>
            <a:off x="5353050" y="1924050"/>
            <a:ext cx="6153150" cy="2650769"/>
          </a:xfrm>
          <a:prstGeom prst="rect">
            <a:avLst/>
          </a:prstGeom>
        </p:spPr>
      </p:pic>
      <p:sp>
        <p:nvSpPr>
          <p:cNvPr id="8" name="El historial conserva responsable anterior, n">
            <a:extLst>
              <a:ext uri="{FF2B5EF4-FFF2-40B4-BE49-F238E27FC236}">
                <a16:creationId xmlns:a16="http://schemas.microsoft.com/office/drawing/2014/main" id="{63BEBF0D-53FF-4C16-9320-D3349AA66967}"/>
              </a:ext>
            </a:extLst>
          </p:cNvPr>
          <p:cNvSpPr>
            <a:spLocks noGrp="1"/>
          </p:cNvSpPr>
          <p:nvPr/>
        </p:nvSpPr>
        <p:spPr>
          <a:xfrm>
            <a:off x="5353050" y="5105400"/>
            <a:ext cx="6000750" cy="8382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El historial conserva responsable anterior, nuevo, autor y fecha.</a:t>
            </a:r>
          </a:p>
        </p:txBody>
      </p:sp>
    </p:spTree>
    <p:extLst>
      <p:ext uri="{BB962C8B-B14F-4D97-AF65-F5344CB8AC3E}">
        <p14:creationId xmlns:p14="http://schemas.microsoft.com/office/powerpoint/2010/main" val="960636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ítulo">
            <a:extLst>
              <a:ext uri="{FF2B5EF4-FFF2-40B4-BE49-F238E27FC236}">
                <a16:creationId xmlns:a16="http://schemas.microsoft.com/office/drawing/2014/main" id="{E735D5C9-5328-491F-96D7-1F9FB1E8EC3C}"/>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Pruebas y resultados</a:t>
            </a:r>
          </a:p>
        </p:txBody>
      </p:sp>
      <p:sp>
        <p:nvSpPr>
          <p:cNvPr id="2" name="Número">
            <a:extLst>
              <a:ext uri="{FF2B5EF4-FFF2-40B4-BE49-F238E27FC236}">
                <a16:creationId xmlns:a16="http://schemas.microsoft.com/office/drawing/2014/main" id="{117771DA-B412-41CC-893D-545BDD193508}"/>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10</a:t>
            </a:r>
          </a:p>
        </p:txBody>
      </p:sp>
      <p:graphicFrame>
        <p:nvGraphicFramePr>
          <p:cNvPr id="3" name="Tabla 2">
            <a:extLst>
              <a:ext uri="{FF2B5EF4-FFF2-40B4-BE49-F238E27FC236}">
                <a16:creationId xmlns:a16="http://schemas.microsoft.com/office/drawing/2014/main" id="{C2C16AA1-DBBD-4838-99F4-2BB38CD52807}"/>
              </a:ext>
            </a:extLst>
          </p:cNvPr>
          <p:cNvGraphicFramePr/>
          <p:nvPr/>
        </p:nvGraphicFramePr>
        <p:xfrm>
          <a:off x="685800" y="1571625"/>
          <a:ext cx="10820400" cy="3000375"/>
        </p:xfrm>
        <a:graphic>
          <a:graphicData uri="http://schemas.openxmlformats.org/drawingml/2006/table">
            <a:tbl>
              <a:tblPr/>
              <a:tblGrid>
                <a:gridCol w="4429125">
                  <a:extLst>
                    <a:ext uri="{9D8B030D-6E8A-4147-A177-3AD203B41FA5}">
                      <a16:colId xmlns:a16="http://schemas.microsoft.com/office/drawing/2014/main" val="20000"/>
                    </a:ext>
                  </a:extLst>
                </a:gridCol>
                <a:gridCol w="6391275">
                  <a:extLst>
                    <a:ext uri="{9D8B030D-6E8A-4147-A177-3AD203B41FA5}">
                      <a16:colId xmlns:a16="http://schemas.microsoft.com/office/drawing/2014/main" val="20001"/>
                    </a:ext>
                  </a:extLst>
                </a:gridCol>
              </a:tblGrid>
              <a:tr h="571500">
                <a:tc>
                  <a:txBody>
                    <a:bodyPr/>
                    <a:lstStyle/>
                    <a:p>
                      <a:r>
                        <a:rPr sz="2025" b="1">
                          <a:solidFill>
                            <a:srgbClr val="FFFFFF"/>
                          </a:solidFill>
                          <a:latin typeface="Calibri"/>
                          <a:ea typeface="Calibri"/>
                          <a:cs typeface="Calibri"/>
                        </a:rPr>
                        <a:t>Comprobación</a:t>
                      </a:r>
                    </a:p>
                  </a:txBody>
                  <a:tcPr anchor="ctr">
                    <a:lnL w="9525">
                      <a:solidFill>
                        <a:srgbClr val="D8DFE7"/>
                      </a:solidFill>
                      <a:prstDash val="solid"/>
                    </a:lnL>
                    <a:lnR w="9525">
                      <a:solidFill>
                        <a:srgbClr val="D8DFE7"/>
                      </a:solidFill>
                      <a:prstDash val="solid"/>
                    </a:lnR>
                    <a:lnT w="9525">
                      <a:solidFill>
                        <a:srgbClr val="D8DFE7"/>
                      </a:solidFill>
                      <a:prstDash val="solid"/>
                    </a:lnT>
                    <a:lnB w="9525">
                      <a:solidFill>
                        <a:srgbClr val="D8DFE7"/>
                      </a:solidFill>
                      <a:prstDash val="solid"/>
                    </a:lnB>
                    <a:solidFill>
                      <a:srgbClr val="223D69"/>
                    </a:solidFill>
                  </a:tcPr>
                </a:tc>
                <a:tc>
                  <a:txBody>
                    <a:bodyPr/>
                    <a:lstStyle/>
                    <a:p>
                      <a:r>
                        <a:rPr sz="2025" b="1">
                          <a:solidFill>
                            <a:srgbClr val="FFFFFF"/>
                          </a:solidFill>
                          <a:latin typeface="Calibri"/>
                          <a:ea typeface="Calibri"/>
                          <a:cs typeface="Calibri"/>
                        </a:rPr>
                        <a:t>Resultado registrado</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a:solidFill>
                        <a:srgbClr val="D8DFE7"/>
                      </a:solidFill>
                      <a:prstDash val="solid"/>
                    </a:lnT>
                    <a:lnB w="9525">
                      <a:solidFill>
                        <a:srgbClr val="D8DFE7"/>
                      </a:solidFill>
                      <a:prstDash val="solid"/>
                    </a:lnB>
                    <a:solidFill>
                      <a:srgbClr val="223D69"/>
                    </a:solidFill>
                  </a:tcPr>
                </a:tc>
                <a:extLst>
                  <a:ext uri="{0D108BD9-81ED-4DB2-BD59-A6C34878D82A}">
                    <a16:rowId xmlns:a16="http://schemas.microsoft.com/office/drawing/2014/main" val="10000"/>
                  </a:ext>
                </a:extLst>
              </a:tr>
              <a:tr h="809625">
                <a:tc>
                  <a:txBody>
                    <a:bodyPr/>
                    <a:lstStyle/>
                    <a:p>
                      <a:r>
                        <a:rPr sz="2025" b="0">
                          <a:solidFill>
                            <a:srgbClr val="242B35"/>
                          </a:solidFill>
                          <a:latin typeface="Calibri"/>
                          <a:ea typeface="Calibri"/>
                          <a:cs typeface="Calibri"/>
                        </a:rPr>
                        <a:t>Backend</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tc>
                  <a:txBody>
                    <a:bodyPr/>
                    <a:lstStyle/>
                    <a:p>
                      <a:r>
                        <a:rPr sz="2025" b="0">
                          <a:solidFill>
                            <a:srgbClr val="242B35"/>
                          </a:solidFill>
                          <a:latin typeface="Calibri"/>
                          <a:ea typeface="Calibri"/>
                          <a:cs typeface="Calibri"/>
                        </a:rPr>
                        <a:t>221 comprobaciones aprobadas</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extLst>
                  <a:ext uri="{0D108BD9-81ED-4DB2-BD59-A6C34878D82A}">
                    <a16:rowId xmlns:a16="http://schemas.microsoft.com/office/drawing/2014/main" val="10001"/>
                  </a:ext>
                </a:extLst>
              </a:tr>
              <a:tr h="809625">
                <a:tc>
                  <a:txBody>
                    <a:bodyPr/>
                    <a:lstStyle/>
                    <a:p>
                      <a:r>
                        <a:rPr sz="2025" b="0">
                          <a:solidFill>
                            <a:srgbClr val="242B35"/>
                          </a:solidFill>
                          <a:latin typeface="Calibri"/>
                          <a:ea typeface="Calibri"/>
                          <a:cs typeface="Calibri"/>
                        </a:rPr>
                        <a:t>Frontend</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tc>
                  <a:txBody>
                    <a:bodyPr/>
                    <a:lstStyle/>
                    <a:p>
                      <a:r>
                        <a:rPr sz="2025" b="0">
                          <a:solidFill>
                            <a:srgbClr val="242B35"/>
                          </a:solidFill>
                          <a:latin typeface="Calibri"/>
                          <a:ea typeface="Calibri"/>
                          <a:cs typeface="Calibri"/>
                        </a:rPr>
                        <a:t>14 pruebas y compilación aprobadas</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1F4F8"/>
                    </a:solidFill>
                  </a:tcPr>
                </a:tc>
                <a:extLst>
                  <a:ext uri="{0D108BD9-81ED-4DB2-BD59-A6C34878D82A}">
                    <a16:rowId xmlns:a16="http://schemas.microsoft.com/office/drawing/2014/main" val="10002"/>
                  </a:ext>
                </a:extLst>
              </a:tr>
              <a:tr h="809625">
                <a:tc>
                  <a:txBody>
                    <a:bodyPr/>
                    <a:lstStyle/>
                    <a:p>
                      <a:r>
                        <a:rPr sz="2025" b="0">
                          <a:solidFill>
                            <a:srgbClr val="242B35"/>
                          </a:solidFill>
                          <a:latin typeface="Calibri"/>
                          <a:ea typeface="Calibri"/>
                          <a:cs typeface="Calibri"/>
                        </a:rPr>
                        <a:t>Modelo real de IA</a:t>
                      </a:r>
                    </a:p>
                  </a:txBody>
                  <a:tcPr anchor="ctr">
                    <a:lnL w="9525">
                      <a:solidFill>
                        <a:srgbClr val="D8DFE7"/>
                      </a:solidFill>
                      <a:prstDash val="soli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tc>
                  <a:txBody>
                    <a:bodyPr/>
                    <a:lstStyle/>
                    <a:p>
                      <a:r>
                        <a:rPr sz="2025" b="0">
                          <a:solidFill>
                            <a:srgbClr val="242B35"/>
                          </a:solidFill>
                          <a:latin typeface="Calibri"/>
                          <a:ea typeface="Calibri"/>
                          <a:cs typeface="Calibri"/>
                        </a:rPr>
                        <a:t>8 casos ficticios revisados</a:t>
                      </a:r>
                    </a:p>
                  </a:txBody>
                  <a:tcPr anchor="ctr">
                    <a:lnL w="9525" cap="flat" cmpd="sng" algn="ctr">
                      <a:solidFill>
                        <a:srgbClr val="D8DFE7"/>
                      </a:solidFill>
                      <a:prstDash val="solid"/>
                      <a:round/>
                      <a:headEnd type="none" w="med" len="med"/>
                      <a:tailEnd type="none" w="med" len="med"/>
                    </a:lnL>
                    <a:lnR w="9525">
                      <a:solidFill>
                        <a:srgbClr val="D8DFE7"/>
                      </a:solidFill>
                      <a:prstDash val="solid"/>
                    </a:lnR>
                    <a:lnT w="9525" cap="flat" cmpd="sng" algn="ctr">
                      <a:solidFill>
                        <a:srgbClr val="D8DFE7"/>
                      </a:solidFill>
                      <a:prstDash val="solid"/>
                      <a:round/>
                      <a:headEnd type="none" w="med" len="med"/>
                      <a:tailEnd type="none" w="med" len="med"/>
                    </a:lnT>
                    <a:lnB w="9525">
                      <a:solidFill>
                        <a:srgbClr val="D8DF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Comprobamos permisos, validaciones, auditoría">
            <a:extLst>
              <a:ext uri="{FF2B5EF4-FFF2-40B4-BE49-F238E27FC236}">
                <a16:creationId xmlns:a16="http://schemas.microsoft.com/office/drawing/2014/main" id="{0F542BDE-12AD-45F9-9FE3-7199D698C595}"/>
              </a:ext>
            </a:extLst>
          </p:cNvPr>
          <p:cNvSpPr>
            <a:spLocks noGrp="1"/>
          </p:cNvSpPr>
          <p:nvPr/>
        </p:nvSpPr>
        <p:spPr>
          <a:xfrm>
            <a:off x="685800" y="4953000"/>
            <a:ext cx="10668000" cy="552450"/>
          </a:xfrm>
          <a:prstGeom prst="rect">
            <a:avLst/>
          </a:prstGeom>
          <a:noFill/>
          <a:ln w="0">
            <a:noFill/>
            <a:prstDash val="solid"/>
          </a:ln>
        </p:spPr>
        <p:txBody>
          <a:bodyPr wrap="square" lIns="0" tIns="0" rIns="0" bIns="0" anchor="t">
            <a:noAutofit/>
          </a:bodyPr>
          <a:lstStyle>
            <a:defPPr algn="l">
              <a:defRPr sz="2175" b="0">
                <a:solidFill>
                  <a:srgbClr val="242B35"/>
                </a:solidFill>
                <a:latin typeface="Calibri"/>
                <a:ea typeface="Calibri"/>
                <a:cs typeface="Calibri"/>
              </a:defRPr>
            </a:defPPr>
          </a:lstStyle>
          <a:p>
            <a:pPr algn="l">
              <a:defRPr sz="2175" b="0">
                <a:solidFill>
                  <a:srgbClr val="242B35"/>
                </a:solidFill>
                <a:latin typeface="Calibri"/>
                <a:ea typeface="Calibri"/>
                <a:cs typeface="Calibri"/>
              </a:defRPr>
            </a:pPr>
            <a:r>
              <a:rPr sz="2175" b="0">
                <a:solidFill>
                  <a:srgbClr val="242B35"/>
                </a:solidFill>
                <a:latin typeface="Calibri"/>
                <a:ea typeface="Calibri"/>
                <a:cs typeface="Calibri"/>
              </a:rPr>
              <a:t>Comprobamos permisos, validaciones, auditoría y el flujo de tareas.</a:t>
            </a:r>
          </a:p>
        </p:txBody>
      </p:sp>
    </p:spTree>
    <p:extLst>
      <p:ext uri="{BB962C8B-B14F-4D97-AF65-F5344CB8AC3E}">
        <p14:creationId xmlns:p14="http://schemas.microsoft.com/office/powerpoint/2010/main" val="1650334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ítulo">
            <a:extLst>
              <a:ext uri="{FF2B5EF4-FFF2-40B4-BE49-F238E27FC236}">
                <a16:creationId xmlns:a16="http://schemas.microsoft.com/office/drawing/2014/main" id="{1401B928-E62D-4460-99E5-40B98D429F3A}"/>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Organización del trabajo</a:t>
            </a:r>
          </a:p>
        </p:txBody>
      </p:sp>
      <p:sp>
        <p:nvSpPr>
          <p:cNvPr id="2" name="Número">
            <a:extLst>
              <a:ext uri="{FF2B5EF4-FFF2-40B4-BE49-F238E27FC236}">
                <a16:creationId xmlns:a16="http://schemas.microsoft.com/office/drawing/2014/main" id="{8B92F014-08C2-4294-9F7C-8FF98816228B}"/>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11</a:t>
            </a:r>
          </a:p>
        </p:txBody>
      </p:sp>
      <p:sp>
        <p:nvSpPr>
          <p:cNvPr id="3" name="Cuatro sprints cerrados">
            <a:extLst>
              <a:ext uri="{FF2B5EF4-FFF2-40B4-BE49-F238E27FC236}">
                <a16:creationId xmlns:a16="http://schemas.microsoft.com/office/drawing/2014/main" id="{1B2EFC04-B638-4F63-86AA-CCD55148C0EF}"/>
              </a:ext>
            </a:extLst>
          </p:cNvPr>
          <p:cNvSpPr>
            <a:spLocks noGrp="1"/>
          </p:cNvSpPr>
          <p:nvPr/>
        </p:nvSpPr>
        <p:spPr>
          <a:xfrm>
            <a:off x="685800" y="1600200"/>
            <a:ext cx="3248025" cy="8382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Cuatro sprints cerrados</a:t>
            </a:r>
          </a:p>
        </p:txBody>
      </p:sp>
      <p:sp>
        <p:nvSpPr>
          <p:cNvPr id="4" name="Base del CRM, flujo comercial, catálogo y asi">
            <a:extLst>
              <a:ext uri="{FF2B5EF4-FFF2-40B4-BE49-F238E27FC236}">
                <a16:creationId xmlns:a16="http://schemas.microsoft.com/office/drawing/2014/main" id="{DD9190CE-0AAA-4C40-AA2D-80FA0B580A6D}"/>
              </a:ext>
            </a:extLst>
          </p:cNvPr>
          <p:cNvSpPr>
            <a:spLocks noGrp="1"/>
          </p:cNvSpPr>
          <p:nvPr/>
        </p:nvSpPr>
        <p:spPr>
          <a:xfrm>
            <a:off x="4162425" y="1600200"/>
            <a:ext cx="7343775" cy="8382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Base del CRM, flujo comercial, catálogo y asignación de responsables.</a:t>
            </a:r>
          </a:p>
        </p:txBody>
      </p:sp>
      <p:sp>
        <p:nvSpPr>
          <p:cNvPr id="5" name="Dos historias posteriores">
            <a:extLst>
              <a:ext uri="{FF2B5EF4-FFF2-40B4-BE49-F238E27FC236}">
                <a16:creationId xmlns:a16="http://schemas.microsoft.com/office/drawing/2014/main" id="{4098F923-BCE5-4A5C-BCB5-D90D403AE2A6}"/>
              </a:ext>
            </a:extLst>
          </p:cNvPr>
          <p:cNvSpPr>
            <a:spLocks noGrp="1"/>
          </p:cNvSpPr>
          <p:nvPr/>
        </p:nvSpPr>
        <p:spPr>
          <a:xfrm>
            <a:off x="685800" y="2857500"/>
            <a:ext cx="3248025" cy="9525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Dos historias posteriores</a:t>
            </a:r>
          </a:p>
        </p:txBody>
      </p:sp>
      <p:sp>
        <p:nvSpPr>
          <p:cNvPr id="6" name="Borradores y preguntas del asistente. Finaliz">
            <a:extLst>
              <a:ext uri="{FF2B5EF4-FFF2-40B4-BE49-F238E27FC236}">
                <a16:creationId xmlns:a16="http://schemas.microsoft.com/office/drawing/2014/main" id="{A413507B-546F-4DC4-AFDA-0DF30855A77F}"/>
              </a:ext>
            </a:extLst>
          </p:cNvPr>
          <p:cNvSpPr>
            <a:spLocks noGrp="1"/>
          </p:cNvSpPr>
          <p:nvPr/>
        </p:nvSpPr>
        <p:spPr>
          <a:xfrm>
            <a:off x="4162425" y="2857500"/>
            <a:ext cx="7343775" cy="9525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Borradores y preguntas del asistente. Finalizadas fuera de los sprints cerrados.</a:t>
            </a:r>
          </a:p>
        </p:txBody>
      </p:sp>
      <p:sp>
        <p:nvSpPr>
          <p:cNvPr id="7" name="27 historias finalizadas">
            <a:extLst>
              <a:ext uri="{FF2B5EF4-FFF2-40B4-BE49-F238E27FC236}">
                <a16:creationId xmlns:a16="http://schemas.microsoft.com/office/drawing/2014/main" id="{D2F0C890-4A6F-4E4B-B926-DC7F0C176901}"/>
              </a:ext>
            </a:extLst>
          </p:cNvPr>
          <p:cNvSpPr>
            <a:spLocks noGrp="1"/>
          </p:cNvSpPr>
          <p:nvPr/>
        </p:nvSpPr>
        <p:spPr>
          <a:xfrm>
            <a:off x="685800" y="4248150"/>
            <a:ext cx="3248025" cy="838200"/>
          </a:xfrm>
          <a:prstGeom prst="rect">
            <a:avLst/>
          </a:prstGeom>
          <a:noFill/>
          <a:ln w="0">
            <a:noFill/>
            <a:prstDash val="solid"/>
          </a:ln>
        </p:spPr>
        <p:txBody>
          <a:bodyPr wrap="square" lIns="0" tIns="0" rIns="0" bIns="0" anchor="t">
            <a:noAutofit/>
          </a:bodyPr>
          <a:lstStyle>
            <a:defPPr algn="l">
              <a:defRPr sz="2175" b="1">
                <a:solidFill>
                  <a:srgbClr val="223D69"/>
                </a:solidFill>
                <a:latin typeface="Calibri"/>
                <a:ea typeface="Calibri"/>
                <a:cs typeface="Calibri"/>
              </a:defRPr>
            </a:defPPr>
          </a:lstStyle>
          <a:p>
            <a:pPr algn="l">
              <a:defRPr sz="2175" b="1">
                <a:solidFill>
                  <a:srgbClr val="223D69"/>
                </a:solidFill>
                <a:latin typeface="Calibri"/>
                <a:ea typeface="Calibri"/>
                <a:cs typeface="Calibri"/>
              </a:defRPr>
            </a:pPr>
            <a:r>
              <a:rPr sz="2175" b="1">
                <a:solidFill>
                  <a:srgbClr val="223D69"/>
                </a:solidFill>
                <a:latin typeface="Calibri"/>
                <a:ea typeface="Calibri"/>
                <a:cs typeface="Calibri"/>
              </a:rPr>
              <a:t>27 historias finalizadas</a:t>
            </a:r>
          </a:p>
        </p:txBody>
      </p:sp>
      <p:sp>
        <p:nvSpPr>
          <p:cNvPr id="8" name="Estado registrado en Jira al 16 de octubre de">
            <a:extLst>
              <a:ext uri="{FF2B5EF4-FFF2-40B4-BE49-F238E27FC236}">
                <a16:creationId xmlns:a16="http://schemas.microsoft.com/office/drawing/2014/main" id="{E59A7C21-25E6-4B50-AF06-B4420BDF55AC}"/>
              </a:ext>
            </a:extLst>
          </p:cNvPr>
          <p:cNvSpPr>
            <a:spLocks noGrp="1"/>
          </p:cNvSpPr>
          <p:nvPr/>
        </p:nvSpPr>
        <p:spPr>
          <a:xfrm>
            <a:off x="4162425" y="4248150"/>
            <a:ext cx="7343775" cy="838200"/>
          </a:xfrm>
          <a:prstGeom prst="rect">
            <a:avLst/>
          </a:prstGeom>
          <a:noFill/>
          <a:ln w="0">
            <a:noFill/>
            <a:prstDash val="solid"/>
          </a:ln>
        </p:spPr>
        <p:txBody>
          <a:bodyPr wrap="square" lIns="0" tIns="0" rIns="0" bIns="0" anchor="t">
            <a:noAutofit/>
          </a:bodyPr>
          <a:lstStyle>
            <a:defPPr algn="l">
              <a:defRPr sz="2100" b="0">
                <a:solidFill>
                  <a:srgbClr val="242B35"/>
                </a:solidFill>
                <a:latin typeface="Calibri"/>
                <a:ea typeface="Calibri"/>
                <a:cs typeface="Calibri"/>
              </a:defRPr>
            </a:defPPr>
          </a:lstStyle>
          <a:p>
            <a:pPr algn="l">
              <a:defRPr sz="2100" b="0">
                <a:solidFill>
                  <a:srgbClr val="242B35"/>
                </a:solidFill>
                <a:latin typeface="Calibri"/>
                <a:ea typeface="Calibri"/>
                <a:cs typeface="Calibri"/>
              </a:defRPr>
            </a:pPr>
            <a:r>
              <a:rPr sz="2100" b="0">
                <a:solidFill>
                  <a:srgbClr val="242B35"/>
                </a:solidFill>
                <a:latin typeface="Calibri"/>
                <a:ea typeface="Calibri"/>
                <a:cs typeface="Calibri"/>
              </a:rPr>
              <a:t>Estado registrado en Jira al 16 de octubre de 2026.</a:t>
            </a:r>
          </a:p>
        </p:txBody>
      </p:sp>
    </p:spTree>
    <p:extLst>
      <p:ext uri="{BB962C8B-B14F-4D97-AF65-F5344CB8AC3E}">
        <p14:creationId xmlns:p14="http://schemas.microsoft.com/office/powerpoint/2010/main" val="1355503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ítulo">
            <a:extLst>
              <a:ext uri="{FF2B5EF4-FFF2-40B4-BE49-F238E27FC236}">
                <a16:creationId xmlns:a16="http://schemas.microsoft.com/office/drawing/2014/main" id="{BC4DF155-62C7-4A48-9CB1-00279F316B2B}"/>
              </a:ext>
            </a:extLst>
          </p:cNvPr>
          <p:cNvSpPr>
            <a:spLocks noGrp="1"/>
          </p:cNvSpPr>
          <p:nvPr/>
        </p:nvSpPr>
        <p:spPr>
          <a:xfrm>
            <a:off x="685800" y="514350"/>
            <a:ext cx="10668000" cy="619125"/>
          </a:xfrm>
          <a:prstGeom prst="rect">
            <a:avLst/>
          </a:prstGeom>
          <a:noFill/>
          <a:ln w="0">
            <a:noFill/>
            <a:prstDash val="solid"/>
          </a:ln>
        </p:spPr>
        <p:txBody>
          <a:bodyPr wrap="square" lIns="0" tIns="0" rIns="0" bIns="0" anchor="t">
            <a:noAutofit/>
          </a:bodyPr>
          <a:lstStyle>
            <a:defPPr algn="l">
              <a:defRPr sz="3300" b="1">
                <a:solidFill>
                  <a:srgbClr val="223D69"/>
                </a:solidFill>
                <a:latin typeface="Calibri"/>
                <a:ea typeface="Calibri"/>
                <a:cs typeface="Calibri"/>
              </a:defRPr>
            </a:defPPr>
          </a:lstStyle>
          <a:p>
            <a:pPr algn="l">
              <a:defRPr sz="3300" b="1">
                <a:solidFill>
                  <a:srgbClr val="223D69"/>
                </a:solidFill>
                <a:latin typeface="Calibri"/>
                <a:ea typeface="Calibri"/>
                <a:cs typeface="Calibri"/>
              </a:defRPr>
            </a:pPr>
            <a:r>
              <a:rPr sz="3300" b="1">
                <a:solidFill>
                  <a:srgbClr val="223D69"/>
                </a:solidFill>
                <a:latin typeface="Calibri"/>
                <a:ea typeface="Calibri"/>
                <a:cs typeface="Calibri"/>
              </a:rPr>
              <a:t>Resultado de la fase 2</a:t>
            </a:r>
          </a:p>
        </p:txBody>
      </p:sp>
      <p:sp>
        <p:nvSpPr>
          <p:cNvPr id="2" name="Número">
            <a:extLst>
              <a:ext uri="{FF2B5EF4-FFF2-40B4-BE49-F238E27FC236}">
                <a16:creationId xmlns:a16="http://schemas.microsoft.com/office/drawing/2014/main" id="{03359DBC-5241-41D2-81E2-AB77ACECEB90}"/>
              </a:ext>
            </a:extLst>
          </p:cNvPr>
          <p:cNvSpPr>
            <a:spLocks noGrp="1"/>
          </p:cNvSpPr>
          <p:nvPr/>
        </p:nvSpPr>
        <p:spPr>
          <a:xfrm>
            <a:off x="11239500" y="6381750"/>
            <a:ext cx="285750" cy="266700"/>
          </a:xfrm>
          <a:prstGeom prst="rect">
            <a:avLst/>
          </a:prstGeom>
          <a:noFill/>
          <a:ln w="0">
            <a:noFill/>
            <a:prstDash val="solid"/>
          </a:ln>
        </p:spPr>
        <p:txBody>
          <a:bodyPr wrap="square" lIns="0" tIns="0" rIns="0" bIns="0" anchor="t">
            <a:noAutofit/>
          </a:bodyPr>
          <a:lstStyle>
            <a:defPPr algn="l">
              <a:defRPr sz="1350" b="0">
                <a:solidFill>
                  <a:srgbClr val="596575"/>
                </a:solidFill>
                <a:latin typeface="Calibri"/>
                <a:ea typeface="Calibri"/>
                <a:cs typeface="Calibri"/>
              </a:defRPr>
            </a:defPPr>
          </a:lstStyle>
          <a:p>
            <a:pPr algn="l">
              <a:defRPr sz="1350" b="0">
                <a:solidFill>
                  <a:srgbClr val="596575"/>
                </a:solidFill>
                <a:latin typeface="Calibri"/>
                <a:ea typeface="Calibri"/>
                <a:cs typeface="Calibri"/>
              </a:defRPr>
            </a:pPr>
            <a:r>
              <a:rPr sz="1350" b="0">
                <a:solidFill>
                  <a:srgbClr val="596575"/>
                </a:solidFill>
                <a:latin typeface="Calibri"/>
                <a:ea typeface="Calibri"/>
                <a:cs typeface="Calibri"/>
              </a:rPr>
              <a:t>12</a:t>
            </a:r>
          </a:p>
        </p:txBody>
      </p:sp>
      <p:sp>
        <p:nvSpPr>
          <p:cNvPr id="3" name="Contamos con un CRM funcional para probar el ">
            <a:extLst>
              <a:ext uri="{FF2B5EF4-FFF2-40B4-BE49-F238E27FC236}">
                <a16:creationId xmlns:a16="http://schemas.microsoft.com/office/drawing/2014/main" id="{FBA7FB3C-AF3E-45DC-BA0F-E2AD1EFF202F}"/>
              </a:ext>
            </a:extLst>
          </p:cNvPr>
          <p:cNvSpPr>
            <a:spLocks noGrp="1"/>
          </p:cNvSpPr>
          <p:nvPr/>
        </p:nvSpPr>
        <p:spPr>
          <a:xfrm>
            <a:off x="685800" y="1600200"/>
            <a:ext cx="10382250" cy="1381125"/>
          </a:xfrm>
          <a:prstGeom prst="rect">
            <a:avLst/>
          </a:prstGeom>
          <a:noFill/>
          <a:ln w="0">
            <a:noFill/>
            <a:prstDash val="solid"/>
          </a:ln>
        </p:spPr>
        <p:txBody>
          <a:bodyPr wrap="square" lIns="0" tIns="0" rIns="0" bIns="0" anchor="t">
            <a:noAutofit/>
          </a:bodyPr>
          <a:lstStyle>
            <a:defPPr algn="l">
              <a:defRPr sz="2925" b="1">
                <a:solidFill>
                  <a:srgbClr val="223D69"/>
                </a:solidFill>
                <a:latin typeface="Calibri"/>
                <a:ea typeface="Calibri"/>
                <a:cs typeface="Calibri"/>
              </a:defRPr>
            </a:defPPr>
          </a:lstStyle>
          <a:p>
            <a:pPr algn="l">
              <a:defRPr sz="2925" b="1">
                <a:solidFill>
                  <a:srgbClr val="223D69"/>
                </a:solidFill>
                <a:latin typeface="Calibri"/>
                <a:ea typeface="Calibri"/>
                <a:cs typeface="Calibri"/>
              </a:defRPr>
            </a:pPr>
            <a:r>
              <a:rPr sz="2925" b="1">
                <a:solidFill>
                  <a:srgbClr val="223D69"/>
                </a:solidFill>
                <a:latin typeface="Calibri"/>
                <a:ea typeface="Calibri"/>
                <a:cs typeface="Calibri"/>
              </a:rPr>
              <a:t>Contamos con un CRM funcional para probar el seguimiento comercial con apoyo de IA y revisión del ejecutivo.</a:t>
            </a:r>
          </a:p>
        </p:txBody>
      </p:sp>
      <p:sp>
        <p:nvSpPr>
          <p:cNvPr id="4" name="Límites de esta entrega">
            <a:extLst>
              <a:ext uri="{FF2B5EF4-FFF2-40B4-BE49-F238E27FC236}">
                <a16:creationId xmlns:a16="http://schemas.microsoft.com/office/drawing/2014/main" id="{256A8562-35DA-44F4-ADD9-56DE943A6E2C}"/>
              </a:ext>
            </a:extLst>
          </p:cNvPr>
          <p:cNvSpPr>
            <a:spLocks noGrp="1"/>
          </p:cNvSpPr>
          <p:nvPr/>
        </p:nvSpPr>
        <p:spPr>
          <a:xfrm>
            <a:off x="685800" y="3467100"/>
            <a:ext cx="10382250" cy="419100"/>
          </a:xfrm>
          <a:prstGeom prst="rect">
            <a:avLst/>
          </a:prstGeom>
          <a:noFill/>
          <a:ln w="0">
            <a:noFill/>
            <a:prstDash val="solid"/>
          </a:ln>
        </p:spPr>
        <p:txBody>
          <a:bodyPr wrap="square" lIns="0" tIns="0" rIns="0" bIns="0" anchor="t">
            <a:noAutofit/>
          </a:bodyPr>
          <a:lstStyle>
            <a:defPPr algn="l">
              <a:defRPr sz="2250" b="1">
                <a:solidFill>
                  <a:srgbClr val="223D69"/>
                </a:solidFill>
                <a:latin typeface="Calibri"/>
                <a:ea typeface="Calibri"/>
                <a:cs typeface="Calibri"/>
              </a:defRPr>
            </a:defPPr>
          </a:lstStyle>
          <a:p>
            <a:pPr algn="l">
              <a:defRPr sz="2250" b="1">
                <a:solidFill>
                  <a:srgbClr val="223D69"/>
                </a:solidFill>
                <a:latin typeface="Calibri"/>
                <a:ea typeface="Calibri"/>
                <a:cs typeface="Calibri"/>
              </a:defRPr>
            </a:pPr>
            <a:r>
              <a:rPr sz="2250" b="1">
                <a:solidFill>
                  <a:srgbClr val="223D69"/>
                </a:solidFill>
                <a:latin typeface="Calibri"/>
                <a:ea typeface="Calibri"/>
                <a:cs typeface="Calibri"/>
              </a:rPr>
              <a:t>Límites de esta entrega</a:t>
            </a:r>
          </a:p>
        </p:txBody>
      </p:sp>
      <p:sp>
        <p:nvSpPr>
          <p:cNvPr id="5" name="Datos ficticios y sin validación con clientes">
            <a:extLst>
              <a:ext uri="{FF2B5EF4-FFF2-40B4-BE49-F238E27FC236}">
                <a16:creationId xmlns:a16="http://schemas.microsoft.com/office/drawing/2014/main" id="{0349AD31-1ADE-4D5C-9BC8-81E68CE903D6}"/>
              </a:ext>
            </a:extLst>
          </p:cNvPr>
          <p:cNvSpPr>
            <a:spLocks noGrp="1"/>
          </p:cNvSpPr>
          <p:nvPr/>
        </p:nvSpPr>
        <p:spPr>
          <a:xfrm>
            <a:off x="685800" y="4076700"/>
            <a:ext cx="10572750" cy="1581150"/>
          </a:xfrm>
          <a:prstGeom prst="rect">
            <a:avLst/>
          </a:prstGeom>
          <a:noFill/>
          <a:ln w="0">
            <a:noFill/>
            <a:prstDash val="solid"/>
          </a:ln>
        </p:spPr>
        <p:txBody>
          <a:bodyPr wrap="square" lIns="0" tIns="0" rIns="0" bIns="0" anchor="t">
            <a:noAutofit/>
          </a:bodyPr>
          <a:lstStyle>
            <a:defPPr algn="l">
              <a:defRPr sz="2175" b="0">
                <a:solidFill>
                  <a:srgbClr val="242B35"/>
                </a:solidFill>
                <a:latin typeface="Calibri"/>
                <a:ea typeface="Calibri"/>
                <a:cs typeface="Calibri"/>
              </a:defRPr>
            </a:defPPr>
          </a:lstStyle>
          <a:p>
            <a:pPr algn="l">
              <a:defRPr sz="2175" b="0">
                <a:solidFill>
                  <a:srgbClr val="242B35"/>
                </a:solidFill>
                <a:latin typeface="Calibri"/>
                <a:ea typeface="Calibri"/>
                <a:cs typeface="Calibri"/>
              </a:defRPr>
            </a:pPr>
            <a:r>
              <a:rPr lang="es-MX" sz="2175" b="0" dirty="0">
                <a:solidFill>
                  <a:srgbClr val="242B35"/>
                </a:solidFill>
                <a:latin typeface="Calibri"/>
                <a:ea typeface="Calibri"/>
                <a:cs typeface="Calibri"/>
              </a:rPr>
              <a:t>Datos ficticios.</a:t>
            </a:r>
          </a:p>
          <a:p>
            <a:pPr algn="l">
              <a:defRPr sz="2175" b="0">
                <a:solidFill>
                  <a:srgbClr val="242B35"/>
                </a:solidFill>
                <a:latin typeface="Calibri"/>
                <a:ea typeface="Calibri"/>
                <a:cs typeface="Calibri"/>
              </a:defRPr>
            </a:pPr>
            <a:r>
              <a:rPr sz="2175" b="0" dirty="0">
                <a:solidFill>
                  <a:srgbClr val="242B35"/>
                </a:solidFill>
                <a:latin typeface="Calibri"/>
                <a:ea typeface="Calibri"/>
                <a:cs typeface="Calibri"/>
              </a:rPr>
              <a:t>Sin </a:t>
            </a:r>
            <a:r>
              <a:rPr sz="2175" b="0" dirty="0" err="1">
                <a:solidFill>
                  <a:srgbClr val="242B35"/>
                </a:solidFill>
                <a:latin typeface="Calibri"/>
                <a:ea typeface="Calibri"/>
                <a:cs typeface="Calibri"/>
              </a:rPr>
              <a:t>envío</a:t>
            </a:r>
            <a:r>
              <a:rPr sz="2175" b="0" dirty="0">
                <a:solidFill>
                  <a:srgbClr val="242B35"/>
                </a:solidFill>
                <a:latin typeface="Calibri"/>
                <a:ea typeface="Calibri"/>
                <a:cs typeface="Calibri"/>
              </a:rPr>
              <a:t> </a:t>
            </a:r>
            <a:r>
              <a:rPr sz="2175" b="0" dirty="0" err="1">
                <a:solidFill>
                  <a:srgbClr val="242B35"/>
                </a:solidFill>
                <a:latin typeface="Calibri"/>
                <a:ea typeface="Calibri"/>
                <a:cs typeface="Calibri"/>
              </a:rPr>
              <a:t>autónomo</a:t>
            </a:r>
            <a:r>
              <a:rPr sz="2175" b="0" dirty="0">
                <a:solidFill>
                  <a:srgbClr val="242B35"/>
                </a:solidFill>
                <a:latin typeface="Calibri"/>
                <a:ea typeface="Calibri"/>
                <a:cs typeface="Calibri"/>
              </a:rPr>
              <a:t> de </a:t>
            </a:r>
            <a:r>
              <a:rPr sz="2175" b="0" dirty="0" err="1">
                <a:solidFill>
                  <a:srgbClr val="242B35"/>
                </a:solidFill>
                <a:latin typeface="Calibri"/>
                <a:ea typeface="Calibri"/>
                <a:cs typeface="Calibri"/>
              </a:rPr>
              <a:t>mensajes</a:t>
            </a:r>
            <a:r>
              <a:rPr sz="2175" b="0" dirty="0">
                <a:solidFill>
                  <a:srgbClr val="242B35"/>
                </a:solidFill>
                <a:latin typeface="Calibri"/>
                <a:ea typeface="Calibri"/>
                <a:cs typeface="Calibri"/>
              </a:rPr>
              <a:t> </a:t>
            </a:r>
            <a:r>
              <a:rPr sz="2175" b="0" dirty="0" err="1">
                <a:solidFill>
                  <a:srgbClr val="242B35"/>
                </a:solidFill>
                <a:latin typeface="Calibri"/>
                <a:ea typeface="Calibri"/>
                <a:cs typeface="Calibri"/>
              </a:rPr>
              <a:t>ni</a:t>
            </a:r>
            <a:r>
              <a:rPr sz="2175" b="0" dirty="0">
                <a:solidFill>
                  <a:srgbClr val="242B35"/>
                </a:solidFill>
                <a:latin typeface="Calibri"/>
                <a:ea typeface="Calibri"/>
                <a:cs typeface="Calibri"/>
              </a:rPr>
              <a:t> </a:t>
            </a:r>
            <a:r>
              <a:rPr sz="2175" b="0" dirty="0" err="1">
                <a:solidFill>
                  <a:srgbClr val="242B35"/>
                </a:solidFill>
                <a:latin typeface="Calibri"/>
                <a:ea typeface="Calibri"/>
                <a:cs typeface="Calibri"/>
              </a:rPr>
              <a:t>conexión</a:t>
            </a:r>
            <a:r>
              <a:rPr sz="2175" b="0" dirty="0">
                <a:solidFill>
                  <a:srgbClr val="242B35"/>
                </a:solidFill>
                <a:latin typeface="Calibri"/>
                <a:ea typeface="Calibri"/>
                <a:cs typeface="Calibri"/>
              </a:rPr>
              <a:t> con WhatsApp</a:t>
            </a:r>
            <a:r>
              <a:rPr lang="es-MX" sz="2175" dirty="0">
                <a:solidFill>
                  <a:srgbClr val="242B35"/>
                </a:solidFill>
                <a:latin typeface="Calibri"/>
                <a:ea typeface="Calibri"/>
                <a:cs typeface="Calibri"/>
              </a:rPr>
              <a:t> </a:t>
            </a:r>
            <a:r>
              <a:rPr lang="es-MX" sz="2175" b="0" dirty="0">
                <a:solidFill>
                  <a:srgbClr val="242B35"/>
                </a:solidFill>
                <a:latin typeface="Calibri"/>
                <a:ea typeface="Calibri"/>
                <a:cs typeface="Calibri"/>
              </a:rPr>
              <a:t>&lt;- (Implementación opcional)</a:t>
            </a:r>
            <a:endParaRPr sz="2175" b="0" dirty="0">
              <a:solidFill>
                <a:srgbClr val="242B35"/>
              </a:solidFill>
              <a:latin typeface="Calibri"/>
              <a:ea typeface="Calibri"/>
              <a:cs typeface="Calibri"/>
            </a:endParaRPr>
          </a:p>
        </p:txBody>
      </p:sp>
    </p:spTree>
    <p:extLst>
      <p:ext uri="{BB962C8B-B14F-4D97-AF65-F5344CB8AC3E}">
        <p14:creationId xmlns:p14="http://schemas.microsoft.com/office/powerpoint/2010/main" val="189302669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1747</Words>
  <Application>Microsoft Office PowerPoint</Application>
  <DocSecurity>0</DocSecurity>
  <PresentationFormat>Panorámica</PresentationFormat>
  <Paragraphs>140</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Aptos</vt: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Bryan Vargas</cp:lastModifiedBy>
  <cp:revision>2</cp:revision>
  <dcterms:created xsi:type="dcterms:W3CDTF">2026-10-16T04:26:38Z</dcterms:created>
  <dcterms:modified xsi:type="dcterms:W3CDTF">2026-10-16T04:33:04Z</dcterms:modified>
</cp:coreProperties>
</file>